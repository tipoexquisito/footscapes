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480" r:id="rId3"/>
    <p:sldId id="481" r:id="rId4"/>
    <p:sldId id="484" r:id="rId5"/>
    <p:sldId id="490" r:id="rId6"/>
    <p:sldId id="486" r:id="rId7"/>
    <p:sldId id="491" r:id="rId8"/>
    <p:sldId id="452" r:id="rId9"/>
    <p:sldId id="482" r:id="rId10"/>
    <p:sldId id="497" r:id="rId11"/>
    <p:sldId id="485" r:id="rId12"/>
    <p:sldId id="498" r:id="rId13"/>
    <p:sldId id="472" r:id="rId14"/>
    <p:sldId id="499" r:id="rId15"/>
    <p:sldId id="496" r:id="rId16"/>
    <p:sldId id="493" r:id="rId17"/>
    <p:sldId id="483" r:id="rId18"/>
    <p:sldId id="474" r:id="rId19"/>
    <p:sldId id="494" r:id="rId20"/>
    <p:sldId id="489" r:id="rId21"/>
    <p:sldId id="488" r:id="rId22"/>
    <p:sldId id="495" r:id="rId23"/>
    <p:sldId id="500" r:id="rId24"/>
    <p:sldId id="479" r:id="rId25"/>
    <p:sldId id="492" r:id="rId26"/>
    <p:sldId id="259" r:id="rId2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06" autoAdjust="0"/>
    <p:restoredTop sz="94660"/>
  </p:normalViewPr>
  <p:slideViewPr>
    <p:cSldViewPr snapToGrid="0">
      <p:cViewPr varScale="1">
        <p:scale>
          <a:sx n="69" d="100"/>
          <a:sy n="69" d="100"/>
        </p:scale>
        <p:origin x="69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7446E6-2F22-456C-A082-1EB32631846D}" type="datetimeFigureOut">
              <a:rPr lang="en-GB" smtClean="0"/>
              <a:t>08/05/2026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ECAA7A-B706-4107-A14E-712392EC6739}" type="slidenum">
              <a:rPr lang="en-GB" smtClean="0"/>
              <a:t>‹#›</a:t>
            </a:fld>
            <a:endParaRPr lang="en-GB"/>
          </a:p>
        </p:txBody>
      </p:sp>
    </p:spTree>
    <p:extLst>
      <p:ext uri="{BB962C8B-B14F-4D97-AF65-F5344CB8AC3E}">
        <p14:creationId xmlns:p14="http://schemas.microsoft.com/office/powerpoint/2010/main" val="4013338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a useful way to differentiate if you have shy students in your classes. Some students don’t want to ‘speak’ in front of people but everyone can be involved.</a:t>
            </a:r>
          </a:p>
        </p:txBody>
      </p:sp>
      <p:sp>
        <p:nvSpPr>
          <p:cNvPr id="4" name="Slide Number Placeholder 3"/>
          <p:cNvSpPr>
            <a:spLocks noGrp="1"/>
          </p:cNvSpPr>
          <p:nvPr>
            <p:ph type="sldNum" sz="quarter" idx="5"/>
          </p:nvPr>
        </p:nvSpPr>
        <p:spPr/>
        <p:txBody>
          <a:bodyPr/>
          <a:lstStyle/>
          <a:p>
            <a:fld id="{ABB76CFC-1C51-446A-89ED-E76C984B1B5B}" type="slidenum">
              <a:rPr lang="en-GB" smtClean="0"/>
              <a:t>13</a:t>
            </a:fld>
            <a:endParaRPr lang="en-GB"/>
          </a:p>
        </p:txBody>
      </p:sp>
    </p:spTree>
    <p:extLst>
      <p:ext uri="{BB962C8B-B14F-4D97-AF65-F5344CB8AC3E}">
        <p14:creationId xmlns:p14="http://schemas.microsoft.com/office/powerpoint/2010/main" val="1024094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65DF4-927E-4426-9209-B8636ED67A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a:extLst>
              <a:ext uri="{FF2B5EF4-FFF2-40B4-BE49-F238E27FC236}">
                <a16:creationId xmlns:a16="http://schemas.microsoft.com/office/drawing/2014/main" id="{55EE257A-00D0-4B78-9954-843540DB9F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4" name="Date Placeholder 3">
            <a:extLst>
              <a:ext uri="{FF2B5EF4-FFF2-40B4-BE49-F238E27FC236}">
                <a16:creationId xmlns:a16="http://schemas.microsoft.com/office/drawing/2014/main" id="{7DCEA923-866A-4DEB-9C71-281674DFDF9B}"/>
              </a:ext>
            </a:extLst>
          </p:cNvPr>
          <p:cNvSpPr>
            <a:spLocks noGrp="1"/>
          </p:cNvSpPr>
          <p:nvPr>
            <p:ph type="dt" sz="half" idx="10"/>
          </p:nvPr>
        </p:nvSpPr>
        <p:spPr/>
        <p:txBody>
          <a:bodyPr/>
          <a:lstStyle/>
          <a:p>
            <a:fld id="{3EB36F7D-4EC4-4D5F-BE65-9C3F2D4589B7}" type="datetimeFigureOut">
              <a:rPr lang="es-ES" smtClean="0"/>
              <a:t>08/05/2026</a:t>
            </a:fld>
            <a:endParaRPr lang="es-ES"/>
          </a:p>
        </p:txBody>
      </p:sp>
      <p:sp>
        <p:nvSpPr>
          <p:cNvPr id="5" name="Footer Placeholder 4">
            <a:extLst>
              <a:ext uri="{FF2B5EF4-FFF2-40B4-BE49-F238E27FC236}">
                <a16:creationId xmlns:a16="http://schemas.microsoft.com/office/drawing/2014/main" id="{1AB2A251-BA44-4560-94F7-033B20B9BE00}"/>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9BB2F8A7-6D13-40FD-83E5-B1ABE8D0CD1D}"/>
              </a:ext>
            </a:extLst>
          </p:cNvPr>
          <p:cNvSpPr>
            <a:spLocks noGrp="1"/>
          </p:cNvSpPr>
          <p:nvPr>
            <p:ph type="sldNum" sz="quarter" idx="12"/>
          </p:nvPr>
        </p:nvSpPr>
        <p:spPr/>
        <p:txBody>
          <a:bodyPr/>
          <a:lstStyle/>
          <a:p>
            <a:fld id="{A91685F5-4FC1-411F-9E27-D26F8C49478E}" type="slidenum">
              <a:rPr lang="es-ES" smtClean="0"/>
              <a:t>‹#›</a:t>
            </a:fld>
            <a:endParaRPr lang="es-ES"/>
          </a:p>
        </p:txBody>
      </p:sp>
    </p:spTree>
    <p:extLst>
      <p:ext uri="{BB962C8B-B14F-4D97-AF65-F5344CB8AC3E}">
        <p14:creationId xmlns:p14="http://schemas.microsoft.com/office/powerpoint/2010/main" val="3417845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6700B-AF59-4F9A-936B-114B3B47D129}"/>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43C5247D-8FBD-4E5A-BD70-E6C4BBD079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0D5EDE00-359F-4D89-B96B-C8FAE7698826}"/>
              </a:ext>
            </a:extLst>
          </p:cNvPr>
          <p:cNvSpPr>
            <a:spLocks noGrp="1"/>
          </p:cNvSpPr>
          <p:nvPr>
            <p:ph type="dt" sz="half" idx="10"/>
          </p:nvPr>
        </p:nvSpPr>
        <p:spPr/>
        <p:txBody>
          <a:bodyPr/>
          <a:lstStyle/>
          <a:p>
            <a:fld id="{3EB36F7D-4EC4-4D5F-BE65-9C3F2D4589B7}" type="datetimeFigureOut">
              <a:rPr lang="es-ES" smtClean="0"/>
              <a:t>08/05/2026</a:t>
            </a:fld>
            <a:endParaRPr lang="es-ES"/>
          </a:p>
        </p:txBody>
      </p:sp>
      <p:sp>
        <p:nvSpPr>
          <p:cNvPr id="5" name="Footer Placeholder 4">
            <a:extLst>
              <a:ext uri="{FF2B5EF4-FFF2-40B4-BE49-F238E27FC236}">
                <a16:creationId xmlns:a16="http://schemas.microsoft.com/office/drawing/2014/main" id="{892FCC8A-E9BA-4FBB-917F-FEFF7F56850F}"/>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10813E1A-D663-4E4E-9C97-432705A9D5A6}"/>
              </a:ext>
            </a:extLst>
          </p:cNvPr>
          <p:cNvSpPr>
            <a:spLocks noGrp="1"/>
          </p:cNvSpPr>
          <p:nvPr>
            <p:ph type="sldNum" sz="quarter" idx="12"/>
          </p:nvPr>
        </p:nvSpPr>
        <p:spPr/>
        <p:txBody>
          <a:bodyPr/>
          <a:lstStyle/>
          <a:p>
            <a:fld id="{A91685F5-4FC1-411F-9E27-D26F8C49478E}" type="slidenum">
              <a:rPr lang="es-ES" smtClean="0"/>
              <a:t>‹#›</a:t>
            </a:fld>
            <a:endParaRPr lang="es-ES"/>
          </a:p>
        </p:txBody>
      </p:sp>
    </p:spTree>
    <p:extLst>
      <p:ext uri="{BB962C8B-B14F-4D97-AF65-F5344CB8AC3E}">
        <p14:creationId xmlns:p14="http://schemas.microsoft.com/office/powerpoint/2010/main" val="4244784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F59BD-C70B-41BC-85F7-551F2C36C4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ES"/>
          </a:p>
        </p:txBody>
      </p:sp>
      <p:sp>
        <p:nvSpPr>
          <p:cNvPr id="3" name="Text Placeholder 2">
            <a:extLst>
              <a:ext uri="{FF2B5EF4-FFF2-40B4-BE49-F238E27FC236}">
                <a16:creationId xmlns:a16="http://schemas.microsoft.com/office/drawing/2014/main" id="{DF49C688-C2AB-4C81-9A15-20EA134BC4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AAFE7B-A224-47F5-A440-ADDF60CE9993}"/>
              </a:ext>
            </a:extLst>
          </p:cNvPr>
          <p:cNvSpPr>
            <a:spLocks noGrp="1"/>
          </p:cNvSpPr>
          <p:nvPr>
            <p:ph type="dt" sz="half" idx="10"/>
          </p:nvPr>
        </p:nvSpPr>
        <p:spPr/>
        <p:txBody>
          <a:bodyPr/>
          <a:lstStyle/>
          <a:p>
            <a:fld id="{3EB36F7D-4EC4-4D5F-BE65-9C3F2D4589B7}" type="datetimeFigureOut">
              <a:rPr lang="es-ES" smtClean="0"/>
              <a:t>08/05/2026</a:t>
            </a:fld>
            <a:endParaRPr lang="es-ES"/>
          </a:p>
        </p:txBody>
      </p:sp>
      <p:sp>
        <p:nvSpPr>
          <p:cNvPr id="5" name="Footer Placeholder 4">
            <a:extLst>
              <a:ext uri="{FF2B5EF4-FFF2-40B4-BE49-F238E27FC236}">
                <a16:creationId xmlns:a16="http://schemas.microsoft.com/office/drawing/2014/main" id="{C12DCBE9-55A2-487D-82AE-43D0E3B75D9E}"/>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D481E74E-291D-41B0-AA00-0D103FA05620}"/>
              </a:ext>
            </a:extLst>
          </p:cNvPr>
          <p:cNvSpPr>
            <a:spLocks noGrp="1"/>
          </p:cNvSpPr>
          <p:nvPr>
            <p:ph type="sldNum" sz="quarter" idx="12"/>
          </p:nvPr>
        </p:nvSpPr>
        <p:spPr/>
        <p:txBody>
          <a:bodyPr/>
          <a:lstStyle/>
          <a:p>
            <a:fld id="{A91685F5-4FC1-411F-9E27-D26F8C49478E}" type="slidenum">
              <a:rPr lang="es-ES" smtClean="0"/>
              <a:t>‹#›</a:t>
            </a:fld>
            <a:endParaRPr lang="es-ES"/>
          </a:p>
        </p:txBody>
      </p:sp>
    </p:spTree>
    <p:extLst>
      <p:ext uri="{BB962C8B-B14F-4D97-AF65-F5344CB8AC3E}">
        <p14:creationId xmlns:p14="http://schemas.microsoft.com/office/powerpoint/2010/main" val="2204535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12CB1-DF68-4FA9-8B34-BCA961BD12AB}"/>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D8B3C130-322E-4905-B3AC-322378B313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Content Placeholder 3">
            <a:extLst>
              <a:ext uri="{FF2B5EF4-FFF2-40B4-BE49-F238E27FC236}">
                <a16:creationId xmlns:a16="http://schemas.microsoft.com/office/drawing/2014/main" id="{B76E723B-0776-40A0-AB7A-66F61BD982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Date Placeholder 4">
            <a:extLst>
              <a:ext uri="{FF2B5EF4-FFF2-40B4-BE49-F238E27FC236}">
                <a16:creationId xmlns:a16="http://schemas.microsoft.com/office/drawing/2014/main" id="{DEB98A36-2DDD-4D21-94BA-148D83955DFD}"/>
              </a:ext>
            </a:extLst>
          </p:cNvPr>
          <p:cNvSpPr>
            <a:spLocks noGrp="1"/>
          </p:cNvSpPr>
          <p:nvPr>
            <p:ph type="dt" sz="half" idx="10"/>
          </p:nvPr>
        </p:nvSpPr>
        <p:spPr/>
        <p:txBody>
          <a:bodyPr/>
          <a:lstStyle/>
          <a:p>
            <a:fld id="{3EB36F7D-4EC4-4D5F-BE65-9C3F2D4589B7}" type="datetimeFigureOut">
              <a:rPr lang="es-ES" smtClean="0"/>
              <a:t>08/05/2026</a:t>
            </a:fld>
            <a:endParaRPr lang="es-ES"/>
          </a:p>
        </p:txBody>
      </p:sp>
      <p:sp>
        <p:nvSpPr>
          <p:cNvPr id="6" name="Footer Placeholder 5">
            <a:extLst>
              <a:ext uri="{FF2B5EF4-FFF2-40B4-BE49-F238E27FC236}">
                <a16:creationId xmlns:a16="http://schemas.microsoft.com/office/drawing/2014/main" id="{655C166F-AC5F-4AF9-AABD-EC9A49D50C3E}"/>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9C0FC3BB-4133-4E50-A265-35EA295C8FBB}"/>
              </a:ext>
            </a:extLst>
          </p:cNvPr>
          <p:cNvSpPr>
            <a:spLocks noGrp="1"/>
          </p:cNvSpPr>
          <p:nvPr>
            <p:ph type="sldNum" sz="quarter" idx="12"/>
          </p:nvPr>
        </p:nvSpPr>
        <p:spPr/>
        <p:txBody>
          <a:bodyPr/>
          <a:lstStyle/>
          <a:p>
            <a:fld id="{A91685F5-4FC1-411F-9E27-D26F8C49478E}" type="slidenum">
              <a:rPr lang="es-ES" smtClean="0"/>
              <a:t>‹#›</a:t>
            </a:fld>
            <a:endParaRPr lang="es-ES"/>
          </a:p>
        </p:txBody>
      </p:sp>
    </p:spTree>
    <p:extLst>
      <p:ext uri="{BB962C8B-B14F-4D97-AF65-F5344CB8AC3E}">
        <p14:creationId xmlns:p14="http://schemas.microsoft.com/office/powerpoint/2010/main" val="3483453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BFF96-F7B8-4489-B4E2-A01AD47B17B5}"/>
              </a:ext>
            </a:extLst>
          </p:cNvPr>
          <p:cNvSpPr>
            <a:spLocks noGrp="1"/>
          </p:cNvSpPr>
          <p:nvPr>
            <p:ph type="title"/>
          </p:nvPr>
        </p:nvSpPr>
        <p:spPr>
          <a:xfrm>
            <a:off x="839788" y="365125"/>
            <a:ext cx="10515600" cy="1325563"/>
          </a:xfrm>
        </p:spPr>
        <p:txBody>
          <a:bodyPr/>
          <a:lstStyle/>
          <a:p>
            <a:r>
              <a:rPr lang="en-US"/>
              <a:t>Click to edit Master title style</a:t>
            </a:r>
            <a:endParaRPr lang="es-ES"/>
          </a:p>
        </p:txBody>
      </p:sp>
      <p:sp>
        <p:nvSpPr>
          <p:cNvPr id="3" name="Text Placeholder 2">
            <a:extLst>
              <a:ext uri="{FF2B5EF4-FFF2-40B4-BE49-F238E27FC236}">
                <a16:creationId xmlns:a16="http://schemas.microsoft.com/office/drawing/2014/main" id="{BC91B328-0598-4C7F-8C8E-888A7D21DD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D875E6-5D9E-4DFD-BCFC-57E43C1BA6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Text Placeholder 4">
            <a:extLst>
              <a:ext uri="{FF2B5EF4-FFF2-40B4-BE49-F238E27FC236}">
                <a16:creationId xmlns:a16="http://schemas.microsoft.com/office/drawing/2014/main" id="{66B44BAD-64A4-4840-BCCD-84C6FE561D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FFCB81-D024-413B-B9E4-C8B60D7AD7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7" name="Date Placeholder 6">
            <a:extLst>
              <a:ext uri="{FF2B5EF4-FFF2-40B4-BE49-F238E27FC236}">
                <a16:creationId xmlns:a16="http://schemas.microsoft.com/office/drawing/2014/main" id="{DB753B57-2E9A-43A3-A5AA-663548D6715E}"/>
              </a:ext>
            </a:extLst>
          </p:cNvPr>
          <p:cNvSpPr>
            <a:spLocks noGrp="1"/>
          </p:cNvSpPr>
          <p:nvPr>
            <p:ph type="dt" sz="half" idx="10"/>
          </p:nvPr>
        </p:nvSpPr>
        <p:spPr/>
        <p:txBody>
          <a:bodyPr/>
          <a:lstStyle/>
          <a:p>
            <a:fld id="{3EB36F7D-4EC4-4D5F-BE65-9C3F2D4589B7}" type="datetimeFigureOut">
              <a:rPr lang="es-ES" smtClean="0"/>
              <a:t>08/05/2026</a:t>
            </a:fld>
            <a:endParaRPr lang="es-ES"/>
          </a:p>
        </p:txBody>
      </p:sp>
      <p:sp>
        <p:nvSpPr>
          <p:cNvPr id="8" name="Footer Placeholder 7">
            <a:extLst>
              <a:ext uri="{FF2B5EF4-FFF2-40B4-BE49-F238E27FC236}">
                <a16:creationId xmlns:a16="http://schemas.microsoft.com/office/drawing/2014/main" id="{C670FF71-2E07-4B0C-906B-5680C4FB2748}"/>
              </a:ext>
            </a:extLst>
          </p:cNvPr>
          <p:cNvSpPr>
            <a:spLocks noGrp="1"/>
          </p:cNvSpPr>
          <p:nvPr>
            <p:ph type="ftr" sz="quarter" idx="11"/>
          </p:nvPr>
        </p:nvSpPr>
        <p:spPr/>
        <p:txBody>
          <a:bodyPr/>
          <a:lstStyle/>
          <a:p>
            <a:endParaRPr lang="es-ES"/>
          </a:p>
        </p:txBody>
      </p:sp>
      <p:sp>
        <p:nvSpPr>
          <p:cNvPr id="9" name="Slide Number Placeholder 8">
            <a:extLst>
              <a:ext uri="{FF2B5EF4-FFF2-40B4-BE49-F238E27FC236}">
                <a16:creationId xmlns:a16="http://schemas.microsoft.com/office/drawing/2014/main" id="{49ADB99E-E39C-4866-B7F0-395E6A67E86C}"/>
              </a:ext>
            </a:extLst>
          </p:cNvPr>
          <p:cNvSpPr>
            <a:spLocks noGrp="1"/>
          </p:cNvSpPr>
          <p:nvPr>
            <p:ph type="sldNum" sz="quarter" idx="12"/>
          </p:nvPr>
        </p:nvSpPr>
        <p:spPr/>
        <p:txBody>
          <a:bodyPr/>
          <a:lstStyle/>
          <a:p>
            <a:fld id="{A91685F5-4FC1-411F-9E27-D26F8C49478E}" type="slidenum">
              <a:rPr lang="es-ES" smtClean="0"/>
              <a:t>‹#›</a:t>
            </a:fld>
            <a:endParaRPr lang="es-ES"/>
          </a:p>
        </p:txBody>
      </p:sp>
    </p:spTree>
    <p:extLst>
      <p:ext uri="{BB962C8B-B14F-4D97-AF65-F5344CB8AC3E}">
        <p14:creationId xmlns:p14="http://schemas.microsoft.com/office/powerpoint/2010/main" val="268411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A4DDA-5232-49AE-B3E6-A45676E9EBEE}"/>
              </a:ext>
            </a:extLst>
          </p:cNvPr>
          <p:cNvSpPr>
            <a:spLocks noGrp="1"/>
          </p:cNvSpPr>
          <p:nvPr>
            <p:ph type="title"/>
          </p:nvPr>
        </p:nvSpPr>
        <p:spPr/>
        <p:txBody>
          <a:bodyPr/>
          <a:lstStyle/>
          <a:p>
            <a:r>
              <a:rPr lang="en-US"/>
              <a:t>Click to edit Master title style</a:t>
            </a:r>
            <a:endParaRPr lang="es-ES"/>
          </a:p>
        </p:txBody>
      </p:sp>
      <p:sp>
        <p:nvSpPr>
          <p:cNvPr id="3" name="Date Placeholder 2">
            <a:extLst>
              <a:ext uri="{FF2B5EF4-FFF2-40B4-BE49-F238E27FC236}">
                <a16:creationId xmlns:a16="http://schemas.microsoft.com/office/drawing/2014/main" id="{6A75C1DF-B385-4B00-9478-4036FA26BBC7}"/>
              </a:ext>
            </a:extLst>
          </p:cNvPr>
          <p:cNvSpPr>
            <a:spLocks noGrp="1"/>
          </p:cNvSpPr>
          <p:nvPr>
            <p:ph type="dt" sz="half" idx="10"/>
          </p:nvPr>
        </p:nvSpPr>
        <p:spPr/>
        <p:txBody>
          <a:bodyPr/>
          <a:lstStyle/>
          <a:p>
            <a:fld id="{3EB36F7D-4EC4-4D5F-BE65-9C3F2D4589B7}" type="datetimeFigureOut">
              <a:rPr lang="es-ES" smtClean="0"/>
              <a:t>08/05/2026</a:t>
            </a:fld>
            <a:endParaRPr lang="es-ES"/>
          </a:p>
        </p:txBody>
      </p:sp>
      <p:sp>
        <p:nvSpPr>
          <p:cNvPr id="4" name="Footer Placeholder 3">
            <a:extLst>
              <a:ext uri="{FF2B5EF4-FFF2-40B4-BE49-F238E27FC236}">
                <a16:creationId xmlns:a16="http://schemas.microsoft.com/office/drawing/2014/main" id="{11DFAB47-45CC-4C4C-9002-D8C2934085A2}"/>
              </a:ext>
            </a:extLst>
          </p:cNvPr>
          <p:cNvSpPr>
            <a:spLocks noGrp="1"/>
          </p:cNvSpPr>
          <p:nvPr>
            <p:ph type="ftr" sz="quarter" idx="11"/>
          </p:nvPr>
        </p:nvSpPr>
        <p:spPr/>
        <p:txBody>
          <a:bodyPr/>
          <a:lstStyle/>
          <a:p>
            <a:endParaRPr lang="es-ES"/>
          </a:p>
        </p:txBody>
      </p:sp>
      <p:sp>
        <p:nvSpPr>
          <p:cNvPr id="5" name="Slide Number Placeholder 4">
            <a:extLst>
              <a:ext uri="{FF2B5EF4-FFF2-40B4-BE49-F238E27FC236}">
                <a16:creationId xmlns:a16="http://schemas.microsoft.com/office/drawing/2014/main" id="{898ACF10-4984-42B9-B4C3-38D5B8EFDC75}"/>
              </a:ext>
            </a:extLst>
          </p:cNvPr>
          <p:cNvSpPr>
            <a:spLocks noGrp="1"/>
          </p:cNvSpPr>
          <p:nvPr>
            <p:ph type="sldNum" sz="quarter" idx="12"/>
          </p:nvPr>
        </p:nvSpPr>
        <p:spPr/>
        <p:txBody>
          <a:bodyPr/>
          <a:lstStyle/>
          <a:p>
            <a:fld id="{A91685F5-4FC1-411F-9E27-D26F8C49478E}" type="slidenum">
              <a:rPr lang="es-ES" smtClean="0"/>
              <a:t>‹#›</a:t>
            </a:fld>
            <a:endParaRPr lang="es-ES"/>
          </a:p>
        </p:txBody>
      </p:sp>
    </p:spTree>
    <p:extLst>
      <p:ext uri="{BB962C8B-B14F-4D97-AF65-F5344CB8AC3E}">
        <p14:creationId xmlns:p14="http://schemas.microsoft.com/office/powerpoint/2010/main" val="108068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AD4AA0-5966-4BCD-A7FE-95D8D618A3FC}"/>
              </a:ext>
            </a:extLst>
          </p:cNvPr>
          <p:cNvSpPr>
            <a:spLocks noGrp="1"/>
          </p:cNvSpPr>
          <p:nvPr>
            <p:ph type="dt" sz="half" idx="10"/>
          </p:nvPr>
        </p:nvSpPr>
        <p:spPr/>
        <p:txBody>
          <a:bodyPr/>
          <a:lstStyle/>
          <a:p>
            <a:fld id="{3EB36F7D-4EC4-4D5F-BE65-9C3F2D4589B7}" type="datetimeFigureOut">
              <a:rPr lang="es-ES" smtClean="0"/>
              <a:t>08/05/2026</a:t>
            </a:fld>
            <a:endParaRPr lang="es-ES"/>
          </a:p>
        </p:txBody>
      </p:sp>
      <p:sp>
        <p:nvSpPr>
          <p:cNvPr id="3" name="Footer Placeholder 2">
            <a:extLst>
              <a:ext uri="{FF2B5EF4-FFF2-40B4-BE49-F238E27FC236}">
                <a16:creationId xmlns:a16="http://schemas.microsoft.com/office/drawing/2014/main" id="{1E732090-AB82-4F7C-88B7-46DAD6A15244}"/>
              </a:ext>
            </a:extLst>
          </p:cNvPr>
          <p:cNvSpPr>
            <a:spLocks noGrp="1"/>
          </p:cNvSpPr>
          <p:nvPr>
            <p:ph type="ftr" sz="quarter" idx="11"/>
          </p:nvPr>
        </p:nvSpPr>
        <p:spPr/>
        <p:txBody>
          <a:bodyPr/>
          <a:lstStyle/>
          <a:p>
            <a:endParaRPr lang="es-ES"/>
          </a:p>
        </p:txBody>
      </p:sp>
      <p:sp>
        <p:nvSpPr>
          <p:cNvPr id="4" name="Slide Number Placeholder 3">
            <a:extLst>
              <a:ext uri="{FF2B5EF4-FFF2-40B4-BE49-F238E27FC236}">
                <a16:creationId xmlns:a16="http://schemas.microsoft.com/office/drawing/2014/main" id="{0DEC4797-D52E-4019-AE39-3AB9051634C4}"/>
              </a:ext>
            </a:extLst>
          </p:cNvPr>
          <p:cNvSpPr>
            <a:spLocks noGrp="1"/>
          </p:cNvSpPr>
          <p:nvPr>
            <p:ph type="sldNum" sz="quarter" idx="12"/>
          </p:nvPr>
        </p:nvSpPr>
        <p:spPr/>
        <p:txBody>
          <a:bodyPr/>
          <a:lstStyle/>
          <a:p>
            <a:fld id="{A91685F5-4FC1-411F-9E27-D26F8C49478E}" type="slidenum">
              <a:rPr lang="es-ES" smtClean="0"/>
              <a:t>‹#›</a:t>
            </a:fld>
            <a:endParaRPr lang="es-ES"/>
          </a:p>
        </p:txBody>
      </p:sp>
    </p:spTree>
    <p:extLst>
      <p:ext uri="{BB962C8B-B14F-4D97-AF65-F5344CB8AC3E}">
        <p14:creationId xmlns:p14="http://schemas.microsoft.com/office/powerpoint/2010/main" val="211470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DCFE5-0EEE-43C4-84CA-4381752E0D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Content Placeholder 2">
            <a:extLst>
              <a:ext uri="{FF2B5EF4-FFF2-40B4-BE49-F238E27FC236}">
                <a16:creationId xmlns:a16="http://schemas.microsoft.com/office/drawing/2014/main" id="{0E2FEA36-D4DA-4F53-A4ED-560E34CA3F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Text Placeholder 3">
            <a:extLst>
              <a:ext uri="{FF2B5EF4-FFF2-40B4-BE49-F238E27FC236}">
                <a16:creationId xmlns:a16="http://schemas.microsoft.com/office/drawing/2014/main" id="{C8A2CBBD-DE6F-461C-B045-90F1C13C18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7CA29D-C87F-4128-A56D-CD1FDB9ECC63}"/>
              </a:ext>
            </a:extLst>
          </p:cNvPr>
          <p:cNvSpPr>
            <a:spLocks noGrp="1"/>
          </p:cNvSpPr>
          <p:nvPr>
            <p:ph type="dt" sz="half" idx="10"/>
          </p:nvPr>
        </p:nvSpPr>
        <p:spPr/>
        <p:txBody>
          <a:bodyPr/>
          <a:lstStyle/>
          <a:p>
            <a:fld id="{3EB36F7D-4EC4-4D5F-BE65-9C3F2D4589B7}" type="datetimeFigureOut">
              <a:rPr lang="es-ES" smtClean="0"/>
              <a:t>08/05/2026</a:t>
            </a:fld>
            <a:endParaRPr lang="es-ES"/>
          </a:p>
        </p:txBody>
      </p:sp>
      <p:sp>
        <p:nvSpPr>
          <p:cNvPr id="6" name="Footer Placeholder 5">
            <a:extLst>
              <a:ext uri="{FF2B5EF4-FFF2-40B4-BE49-F238E27FC236}">
                <a16:creationId xmlns:a16="http://schemas.microsoft.com/office/drawing/2014/main" id="{21A1B8B1-BF9D-40A4-92B3-06D90FD936F5}"/>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DBF84D8F-E49D-40F8-8DF3-11323E4A41D7}"/>
              </a:ext>
            </a:extLst>
          </p:cNvPr>
          <p:cNvSpPr>
            <a:spLocks noGrp="1"/>
          </p:cNvSpPr>
          <p:nvPr>
            <p:ph type="sldNum" sz="quarter" idx="12"/>
          </p:nvPr>
        </p:nvSpPr>
        <p:spPr/>
        <p:txBody>
          <a:bodyPr/>
          <a:lstStyle/>
          <a:p>
            <a:fld id="{A91685F5-4FC1-411F-9E27-D26F8C49478E}" type="slidenum">
              <a:rPr lang="es-ES" smtClean="0"/>
              <a:t>‹#›</a:t>
            </a:fld>
            <a:endParaRPr lang="es-ES"/>
          </a:p>
        </p:txBody>
      </p:sp>
    </p:spTree>
    <p:extLst>
      <p:ext uri="{BB962C8B-B14F-4D97-AF65-F5344CB8AC3E}">
        <p14:creationId xmlns:p14="http://schemas.microsoft.com/office/powerpoint/2010/main" val="25061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DB335-9D81-4F3F-A29C-E593968B0D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Picture Placeholder 2">
            <a:extLst>
              <a:ext uri="{FF2B5EF4-FFF2-40B4-BE49-F238E27FC236}">
                <a16:creationId xmlns:a16="http://schemas.microsoft.com/office/drawing/2014/main" id="{11C74F54-8B5C-4C31-89CD-CF3F5DEFAF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 Placeholder 3">
            <a:extLst>
              <a:ext uri="{FF2B5EF4-FFF2-40B4-BE49-F238E27FC236}">
                <a16:creationId xmlns:a16="http://schemas.microsoft.com/office/drawing/2014/main" id="{90FBE5FB-3AC4-4977-947A-99CF55B8F1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FD46F7-F412-4753-960B-08C0EFADEE5C}"/>
              </a:ext>
            </a:extLst>
          </p:cNvPr>
          <p:cNvSpPr>
            <a:spLocks noGrp="1"/>
          </p:cNvSpPr>
          <p:nvPr>
            <p:ph type="dt" sz="half" idx="10"/>
          </p:nvPr>
        </p:nvSpPr>
        <p:spPr/>
        <p:txBody>
          <a:bodyPr/>
          <a:lstStyle/>
          <a:p>
            <a:fld id="{3EB36F7D-4EC4-4D5F-BE65-9C3F2D4589B7}" type="datetimeFigureOut">
              <a:rPr lang="es-ES" smtClean="0"/>
              <a:t>08/05/2026</a:t>
            </a:fld>
            <a:endParaRPr lang="es-ES"/>
          </a:p>
        </p:txBody>
      </p:sp>
      <p:sp>
        <p:nvSpPr>
          <p:cNvPr id="6" name="Footer Placeholder 5">
            <a:extLst>
              <a:ext uri="{FF2B5EF4-FFF2-40B4-BE49-F238E27FC236}">
                <a16:creationId xmlns:a16="http://schemas.microsoft.com/office/drawing/2014/main" id="{A58B7A00-2B1E-4A2B-AE36-066B81FCE9A5}"/>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847948BA-D400-473D-B166-D90BBFDF3037}"/>
              </a:ext>
            </a:extLst>
          </p:cNvPr>
          <p:cNvSpPr>
            <a:spLocks noGrp="1"/>
          </p:cNvSpPr>
          <p:nvPr>
            <p:ph type="sldNum" sz="quarter" idx="12"/>
          </p:nvPr>
        </p:nvSpPr>
        <p:spPr/>
        <p:txBody>
          <a:bodyPr/>
          <a:lstStyle/>
          <a:p>
            <a:fld id="{A91685F5-4FC1-411F-9E27-D26F8C49478E}" type="slidenum">
              <a:rPr lang="es-ES" smtClean="0"/>
              <a:t>‹#›</a:t>
            </a:fld>
            <a:endParaRPr lang="es-ES"/>
          </a:p>
        </p:txBody>
      </p:sp>
    </p:spTree>
    <p:extLst>
      <p:ext uri="{BB962C8B-B14F-4D97-AF65-F5344CB8AC3E}">
        <p14:creationId xmlns:p14="http://schemas.microsoft.com/office/powerpoint/2010/main" val="723784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C526C-9A12-4E23-A1F5-8B69FF12B2DD}"/>
              </a:ext>
            </a:extLst>
          </p:cNvPr>
          <p:cNvSpPr>
            <a:spLocks noGrp="1"/>
          </p:cNvSpPr>
          <p:nvPr>
            <p:ph type="title"/>
          </p:nvPr>
        </p:nvSpPr>
        <p:spPr/>
        <p:txBody>
          <a:bodyPr/>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7F8C6812-744D-4C2F-9C35-5C7B269AE0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67B7AD02-9F60-4475-8AB0-4537996670A2}"/>
              </a:ext>
            </a:extLst>
          </p:cNvPr>
          <p:cNvSpPr>
            <a:spLocks noGrp="1"/>
          </p:cNvSpPr>
          <p:nvPr>
            <p:ph type="dt" sz="half" idx="10"/>
          </p:nvPr>
        </p:nvSpPr>
        <p:spPr/>
        <p:txBody>
          <a:bodyPr/>
          <a:lstStyle/>
          <a:p>
            <a:fld id="{3EB36F7D-4EC4-4D5F-BE65-9C3F2D4589B7}" type="datetimeFigureOut">
              <a:rPr lang="es-ES" smtClean="0"/>
              <a:t>08/05/2026</a:t>
            </a:fld>
            <a:endParaRPr lang="es-ES"/>
          </a:p>
        </p:txBody>
      </p:sp>
      <p:sp>
        <p:nvSpPr>
          <p:cNvPr id="5" name="Footer Placeholder 4">
            <a:extLst>
              <a:ext uri="{FF2B5EF4-FFF2-40B4-BE49-F238E27FC236}">
                <a16:creationId xmlns:a16="http://schemas.microsoft.com/office/drawing/2014/main" id="{AF76B3C6-0773-4ACC-9A44-8D408EA05734}"/>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99F8718B-57CB-4CA2-B959-28425BEE23A2}"/>
              </a:ext>
            </a:extLst>
          </p:cNvPr>
          <p:cNvSpPr>
            <a:spLocks noGrp="1"/>
          </p:cNvSpPr>
          <p:nvPr>
            <p:ph type="sldNum" sz="quarter" idx="12"/>
          </p:nvPr>
        </p:nvSpPr>
        <p:spPr/>
        <p:txBody>
          <a:bodyPr/>
          <a:lstStyle/>
          <a:p>
            <a:fld id="{A91685F5-4FC1-411F-9E27-D26F8C49478E}" type="slidenum">
              <a:rPr lang="es-ES" smtClean="0"/>
              <a:t>‹#›</a:t>
            </a:fld>
            <a:endParaRPr lang="es-ES"/>
          </a:p>
        </p:txBody>
      </p:sp>
    </p:spTree>
    <p:extLst>
      <p:ext uri="{BB962C8B-B14F-4D97-AF65-F5344CB8AC3E}">
        <p14:creationId xmlns:p14="http://schemas.microsoft.com/office/powerpoint/2010/main" val="716190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B0D7D5-E549-44D8-8AA4-C77A4705890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E56DFAC8-5D13-4FB3-BD84-27637A5456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A0965A91-8F78-4524-A106-C9F9BB778753}"/>
              </a:ext>
            </a:extLst>
          </p:cNvPr>
          <p:cNvSpPr>
            <a:spLocks noGrp="1"/>
          </p:cNvSpPr>
          <p:nvPr>
            <p:ph type="dt" sz="half" idx="10"/>
          </p:nvPr>
        </p:nvSpPr>
        <p:spPr/>
        <p:txBody>
          <a:bodyPr/>
          <a:lstStyle/>
          <a:p>
            <a:fld id="{3EB36F7D-4EC4-4D5F-BE65-9C3F2D4589B7}" type="datetimeFigureOut">
              <a:rPr lang="es-ES" smtClean="0"/>
              <a:t>08/05/2026</a:t>
            </a:fld>
            <a:endParaRPr lang="es-ES"/>
          </a:p>
        </p:txBody>
      </p:sp>
      <p:sp>
        <p:nvSpPr>
          <p:cNvPr id="5" name="Footer Placeholder 4">
            <a:extLst>
              <a:ext uri="{FF2B5EF4-FFF2-40B4-BE49-F238E27FC236}">
                <a16:creationId xmlns:a16="http://schemas.microsoft.com/office/drawing/2014/main" id="{D6484B31-1C87-442B-8BF9-9C1340294912}"/>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F2E7A1DF-A433-4715-801D-E627E11B9E8C}"/>
              </a:ext>
            </a:extLst>
          </p:cNvPr>
          <p:cNvSpPr>
            <a:spLocks noGrp="1"/>
          </p:cNvSpPr>
          <p:nvPr>
            <p:ph type="sldNum" sz="quarter" idx="12"/>
          </p:nvPr>
        </p:nvSpPr>
        <p:spPr/>
        <p:txBody>
          <a:bodyPr/>
          <a:lstStyle/>
          <a:p>
            <a:fld id="{A91685F5-4FC1-411F-9E27-D26F8C49478E}" type="slidenum">
              <a:rPr lang="es-ES" smtClean="0"/>
              <a:t>‹#›</a:t>
            </a:fld>
            <a:endParaRPr lang="es-ES"/>
          </a:p>
        </p:txBody>
      </p:sp>
    </p:spTree>
    <p:extLst>
      <p:ext uri="{BB962C8B-B14F-4D97-AF65-F5344CB8AC3E}">
        <p14:creationId xmlns:p14="http://schemas.microsoft.com/office/powerpoint/2010/main" val="1880906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D0C436-7D00-4940-8BFE-634D82186F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ES"/>
          </a:p>
        </p:txBody>
      </p:sp>
      <p:sp>
        <p:nvSpPr>
          <p:cNvPr id="3" name="Text Placeholder 2">
            <a:extLst>
              <a:ext uri="{FF2B5EF4-FFF2-40B4-BE49-F238E27FC236}">
                <a16:creationId xmlns:a16="http://schemas.microsoft.com/office/drawing/2014/main" id="{46132A13-F61A-41B0-9046-5621557B56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2381CD5D-02B2-4E11-B8B8-EBB4385603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B36F7D-4EC4-4D5F-BE65-9C3F2D4589B7}" type="datetimeFigureOut">
              <a:rPr lang="es-ES" smtClean="0"/>
              <a:t>08/05/2026</a:t>
            </a:fld>
            <a:endParaRPr lang="es-ES"/>
          </a:p>
        </p:txBody>
      </p:sp>
      <p:sp>
        <p:nvSpPr>
          <p:cNvPr id="5" name="Footer Placeholder 4">
            <a:extLst>
              <a:ext uri="{FF2B5EF4-FFF2-40B4-BE49-F238E27FC236}">
                <a16:creationId xmlns:a16="http://schemas.microsoft.com/office/drawing/2014/main" id="{D6B714DF-F4F0-4059-B0B4-AC24D386F9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a:extLst>
              <a:ext uri="{FF2B5EF4-FFF2-40B4-BE49-F238E27FC236}">
                <a16:creationId xmlns:a16="http://schemas.microsoft.com/office/drawing/2014/main" id="{4FF15184-A61F-41F4-A21B-45BE964682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1685F5-4FC1-411F-9E27-D26F8C49478E}" type="slidenum">
              <a:rPr lang="es-ES" smtClean="0"/>
              <a:t>‹#›</a:t>
            </a:fld>
            <a:endParaRPr lang="es-ES"/>
          </a:p>
        </p:txBody>
      </p:sp>
    </p:spTree>
    <p:extLst>
      <p:ext uri="{BB962C8B-B14F-4D97-AF65-F5344CB8AC3E}">
        <p14:creationId xmlns:p14="http://schemas.microsoft.com/office/powerpoint/2010/main" val="3189824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dpag.ox.ac.uk/news/researchers-discover-why-multisensory-learning-is-beneficial-for-memory"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ufL35GH74uU" TargetMode="External"/><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youtube.com/watch?v=lyflpPbLII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01C565D-20CA-415F-89D6-304C8B30DB75}"/>
              </a:ext>
            </a:extLst>
          </p:cNvPr>
          <p:cNvSpPr>
            <a:spLocks noGrp="1"/>
          </p:cNvSpPr>
          <p:nvPr>
            <p:ph type="ctrTitle"/>
          </p:nvPr>
        </p:nvSpPr>
        <p:spPr>
          <a:xfrm>
            <a:off x="1760483" y="2367839"/>
            <a:ext cx="9144000" cy="2387600"/>
          </a:xfrm>
        </p:spPr>
        <p:txBody>
          <a:bodyPr>
            <a:normAutofit/>
          </a:bodyPr>
          <a:lstStyle/>
          <a:p>
            <a:r>
              <a:rPr lang="es-ES" dirty="0"/>
              <a:t>Place and </a:t>
            </a:r>
            <a:r>
              <a:rPr lang="es-ES" dirty="0" err="1"/>
              <a:t>sensory</a:t>
            </a:r>
            <a:r>
              <a:rPr lang="es-ES" dirty="0"/>
              <a:t> </a:t>
            </a:r>
            <a:r>
              <a:rPr lang="es-ES" dirty="0" err="1"/>
              <a:t>learning</a:t>
            </a:r>
            <a:br>
              <a:rPr lang="es-ES" dirty="0"/>
            </a:br>
            <a:endParaRPr lang="en-GB" dirty="0"/>
          </a:p>
        </p:txBody>
      </p:sp>
    </p:spTree>
    <p:extLst>
      <p:ext uri="{BB962C8B-B14F-4D97-AF65-F5344CB8AC3E}">
        <p14:creationId xmlns:p14="http://schemas.microsoft.com/office/powerpoint/2010/main" val="3519441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22E96-9A02-ABEE-097C-E2DFA0E156E9}"/>
              </a:ext>
            </a:extLst>
          </p:cNvPr>
          <p:cNvSpPr>
            <a:spLocks noGrp="1"/>
          </p:cNvSpPr>
          <p:nvPr>
            <p:ph type="title"/>
          </p:nvPr>
        </p:nvSpPr>
        <p:spPr>
          <a:xfrm>
            <a:off x="436418" y="5948506"/>
            <a:ext cx="10515600" cy="1325563"/>
          </a:xfrm>
        </p:spPr>
        <p:txBody>
          <a:bodyPr>
            <a:normAutofit/>
          </a:bodyPr>
          <a:lstStyle/>
          <a:p>
            <a:r>
              <a:rPr lang="en-GB" sz="1200" dirty="0"/>
              <a:t>Source credit: https://www.learntoshine.co.uk/post/the-science-behind-multisensory-learning-why-it-works-for-kids</a:t>
            </a:r>
          </a:p>
        </p:txBody>
      </p:sp>
      <p:sp>
        <p:nvSpPr>
          <p:cNvPr id="3" name="Content Placeholder 2">
            <a:extLst>
              <a:ext uri="{FF2B5EF4-FFF2-40B4-BE49-F238E27FC236}">
                <a16:creationId xmlns:a16="http://schemas.microsoft.com/office/drawing/2014/main" id="{34BCB546-630D-0A04-0EB4-921B5A31D05A}"/>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FC7C9902-61BD-73C7-44F0-8686E2D1519E}"/>
              </a:ext>
            </a:extLst>
          </p:cNvPr>
          <p:cNvPicPr>
            <a:picLocks noChangeAspect="1"/>
          </p:cNvPicPr>
          <p:nvPr/>
        </p:nvPicPr>
        <p:blipFill>
          <a:blip r:embed="rId2"/>
          <a:stretch>
            <a:fillRect/>
          </a:stretch>
        </p:blipFill>
        <p:spPr>
          <a:xfrm>
            <a:off x="838200" y="0"/>
            <a:ext cx="8861744" cy="6346152"/>
          </a:xfrm>
          <a:prstGeom prst="rect">
            <a:avLst/>
          </a:prstGeom>
        </p:spPr>
      </p:pic>
    </p:spTree>
    <p:extLst>
      <p:ext uri="{BB962C8B-B14F-4D97-AF65-F5344CB8AC3E}">
        <p14:creationId xmlns:p14="http://schemas.microsoft.com/office/powerpoint/2010/main" val="155957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591CC-FF76-1314-F4A3-E07923BB2E44}"/>
              </a:ext>
            </a:extLst>
          </p:cNvPr>
          <p:cNvSpPr>
            <a:spLocks noGrp="1"/>
          </p:cNvSpPr>
          <p:nvPr>
            <p:ph type="title"/>
          </p:nvPr>
        </p:nvSpPr>
        <p:spPr/>
        <p:txBody>
          <a:bodyPr/>
          <a:lstStyle/>
          <a:p>
            <a:r>
              <a:rPr lang="en-GB" dirty="0"/>
              <a:t>Why use a multi-sensory approach?</a:t>
            </a:r>
          </a:p>
        </p:txBody>
      </p:sp>
      <p:sp>
        <p:nvSpPr>
          <p:cNvPr id="3" name="Content Placeholder 2">
            <a:extLst>
              <a:ext uri="{FF2B5EF4-FFF2-40B4-BE49-F238E27FC236}">
                <a16:creationId xmlns:a16="http://schemas.microsoft.com/office/drawing/2014/main" id="{00AFB39A-7D4C-69CA-B9EB-2463A3F229F9}"/>
              </a:ext>
            </a:extLst>
          </p:cNvPr>
          <p:cNvSpPr>
            <a:spLocks noGrp="1"/>
          </p:cNvSpPr>
          <p:nvPr>
            <p:ph idx="1"/>
          </p:nvPr>
        </p:nvSpPr>
        <p:spPr/>
        <p:txBody>
          <a:bodyPr>
            <a:normAutofit fontScale="92500" lnSpcReduction="10000"/>
          </a:bodyPr>
          <a:lstStyle/>
          <a:p>
            <a:r>
              <a:rPr lang="en-GB" dirty="0"/>
              <a:t>Enhances memory and recall</a:t>
            </a:r>
          </a:p>
          <a:p>
            <a:r>
              <a:rPr lang="en-GB" dirty="0"/>
              <a:t>Recent neuroscience research demonstrates that multisensory learning creates richer mental representations. When more senses are involved in encoding information, learners build multiple pathways to retrieve that information later. For instance, if you learn a new concept by seeing a diagram, hearing an explanation, and drawing it out yourself, you're more likely to remember it when you need it, because you’ve created visual, auditory, and </a:t>
            </a:r>
            <a:r>
              <a:rPr lang="en-GB" dirty="0" err="1"/>
              <a:t>kinesthetic</a:t>
            </a:r>
            <a:r>
              <a:rPr lang="en-GB" dirty="0"/>
              <a:t> memory anchors.</a:t>
            </a:r>
          </a:p>
          <a:p>
            <a:endParaRPr lang="en-GB" dirty="0"/>
          </a:p>
          <a:p>
            <a:pPr marL="0" indent="0">
              <a:buNone/>
            </a:pPr>
            <a:r>
              <a:rPr lang="en-GB" dirty="0">
                <a:hlinkClick r:id="rId2"/>
              </a:rPr>
              <a:t>https://www.dpag.ox.ac.uk/news/researchers-discover-why-multisensory-learning-is-beneficial-for-memory</a:t>
            </a:r>
            <a:r>
              <a:rPr lang="en-GB" dirty="0"/>
              <a:t> </a:t>
            </a:r>
          </a:p>
          <a:p>
            <a:endParaRPr lang="en-GB" dirty="0"/>
          </a:p>
          <a:p>
            <a:endParaRPr lang="en-GB" dirty="0"/>
          </a:p>
        </p:txBody>
      </p:sp>
    </p:spTree>
    <p:extLst>
      <p:ext uri="{BB962C8B-B14F-4D97-AF65-F5344CB8AC3E}">
        <p14:creationId xmlns:p14="http://schemas.microsoft.com/office/powerpoint/2010/main" val="2890487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770E2-8834-F7C9-E10F-6F26C6FFBC5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C3F79F3-C422-5A14-AF2C-D2B645A71919}"/>
              </a:ext>
            </a:extLst>
          </p:cNvPr>
          <p:cNvSpPr>
            <a:spLocks noGrp="1"/>
          </p:cNvSpPr>
          <p:nvPr>
            <p:ph idx="1"/>
          </p:nvPr>
        </p:nvSpPr>
        <p:spPr/>
        <p:txBody>
          <a:bodyPr>
            <a:normAutofit lnSpcReduction="10000"/>
          </a:bodyPr>
          <a:lstStyle/>
          <a:p>
            <a:r>
              <a:rPr lang="en-GB" dirty="0"/>
              <a:t>Increases engagement</a:t>
            </a:r>
          </a:p>
          <a:p>
            <a:r>
              <a:rPr lang="en-GB" dirty="0"/>
              <a:t>Passive learning, like watching a long webinar or reading dense text, can quickly lead to disengagement or fatigue. Multisensory learning, by contrast, naturally keeps the brain alert and active. When people engage physically (e.g., sketching a mind map or manipulating objects), visually (e.g., watching a video demo), or aurally (e.g., hearing a podcast while walking), the learning becomes more interactive and stimulating.</a:t>
            </a:r>
          </a:p>
          <a:p>
            <a:r>
              <a:rPr lang="en-GB" dirty="0"/>
              <a:t>Even simple strategies like speaking concepts aloud, colour-coding notes, or building models out of real materials make the process feel less tedious and more dynamic.</a:t>
            </a:r>
          </a:p>
          <a:p>
            <a:endParaRPr lang="en-GB" dirty="0"/>
          </a:p>
        </p:txBody>
      </p:sp>
    </p:spTree>
    <p:extLst>
      <p:ext uri="{BB962C8B-B14F-4D97-AF65-F5344CB8AC3E}">
        <p14:creationId xmlns:p14="http://schemas.microsoft.com/office/powerpoint/2010/main" val="4275922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2B5EB-6986-87EA-68AD-C6D902A98832}"/>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976311B-9DE7-6AD4-D084-8BAD0AC50358}"/>
              </a:ext>
            </a:extLst>
          </p:cNvPr>
          <p:cNvSpPr>
            <a:spLocks noGrp="1"/>
          </p:cNvSpPr>
          <p:nvPr>
            <p:ph idx="1"/>
          </p:nvPr>
        </p:nvSpPr>
        <p:spPr/>
        <p:txBody>
          <a:bodyPr/>
          <a:lstStyle/>
          <a:p>
            <a:endParaRPr lang="en-GB"/>
          </a:p>
        </p:txBody>
      </p:sp>
      <p:sp>
        <p:nvSpPr>
          <p:cNvPr id="4" name="Cloud 3">
            <a:extLst>
              <a:ext uri="{FF2B5EF4-FFF2-40B4-BE49-F238E27FC236}">
                <a16:creationId xmlns:a16="http://schemas.microsoft.com/office/drawing/2014/main" id="{F91D90CE-A340-AF0C-8B85-BB8E8ADCC5AE}"/>
              </a:ext>
            </a:extLst>
          </p:cNvPr>
          <p:cNvSpPr/>
          <p:nvPr/>
        </p:nvSpPr>
        <p:spPr>
          <a:xfrm>
            <a:off x="2154264" y="945397"/>
            <a:ext cx="7671661" cy="5231566"/>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t>Do you have a particular smell or sound that triggers a memory for you? </a:t>
            </a:r>
          </a:p>
          <a:p>
            <a:pPr algn="ctr"/>
            <a:r>
              <a:rPr lang="en-GB" sz="3600" dirty="0"/>
              <a:t>Think – Pair - Share </a:t>
            </a:r>
          </a:p>
        </p:txBody>
      </p:sp>
    </p:spTree>
    <p:extLst>
      <p:ext uri="{BB962C8B-B14F-4D97-AF65-F5344CB8AC3E}">
        <p14:creationId xmlns:p14="http://schemas.microsoft.com/office/powerpoint/2010/main" val="1973551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C7E48-5D67-AF12-093F-5E165C7B0509}"/>
              </a:ext>
            </a:extLst>
          </p:cNvPr>
          <p:cNvSpPr>
            <a:spLocks noGrp="1"/>
          </p:cNvSpPr>
          <p:nvPr>
            <p:ph type="title"/>
          </p:nvPr>
        </p:nvSpPr>
        <p:spPr/>
        <p:txBody>
          <a:bodyPr/>
          <a:lstStyle/>
          <a:p>
            <a:r>
              <a:rPr lang="en-GB" dirty="0"/>
              <a:t>Toledo: City of three cultures</a:t>
            </a:r>
          </a:p>
        </p:txBody>
      </p:sp>
      <p:sp>
        <p:nvSpPr>
          <p:cNvPr id="3" name="Content Placeholder 2">
            <a:extLst>
              <a:ext uri="{FF2B5EF4-FFF2-40B4-BE49-F238E27FC236}">
                <a16:creationId xmlns:a16="http://schemas.microsoft.com/office/drawing/2014/main" id="{2296B92D-0739-ACC1-5D75-2FD94FC789D6}"/>
              </a:ext>
            </a:extLst>
          </p:cNvPr>
          <p:cNvSpPr>
            <a:spLocks noGrp="1"/>
          </p:cNvSpPr>
          <p:nvPr>
            <p:ph idx="1"/>
          </p:nvPr>
        </p:nvSpPr>
        <p:spPr/>
        <p:txBody>
          <a:bodyPr/>
          <a:lstStyle/>
          <a:p>
            <a:endParaRPr lang="en-GB"/>
          </a:p>
        </p:txBody>
      </p:sp>
      <p:pic>
        <p:nvPicPr>
          <p:cNvPr id="2050" name="Picture 2" descr="A first visit to Toledo, the city of three cultures">
            <a:extLst>
              <a:ext uri="{FF2B5EF4-FFF2-40B4-BE49-F238E27FC236}">
                <a16:creationId xmlns:a16="http://schemas.microsoft.com/office/drawing/2014/main" id="{84F89DA3-2A96-EE4D-ECE7-EF64D5707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3399" y="1846036"/>
            <a:ext cx="6493144" cy="4330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561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38AE12-8FC2-D488-5AA2-0FC13927C08F}"/>
              </a:ext>
            </a:extLst>
          </p:cNvPr>
          <p:cNvSpPr>
            <a:spLocks noGrp="1"/>
          </p:cNvSpPr>
          <p:nvPr>
            <p:ph idx="1"/>
          </p:nvPr>
        </p:nvSpPr>
        <p:spPr>
          <a:xfrm>
            <a:off x="838200" y="526473"/>
            <a:ext cx="10515600" cy="5650490"/>
          </a:xfrm>
        </p:spPr>
        <p:txBody>
          <a:bodyPr>
            <a:normAutofit fontScale="85000" lnSpcReduction="20000"/>
          </a:bodyPr>
          <a:lstStyle/>
          <a:p>
            <a:pPr fontAlgn="base"/>
            <a:r>
              <a:rPr lang="en-GB" b="1" dirty="0"/>
              <a:t>Roman Era:</a:t>
            </a:r>
            <a:r>
              <a:rPr lang="en-GB" dirty="0"/>
              <a:t> The city was founded by the Romans as </a:t>
            </a:r>
            <a:r>
              <a:rPr lang="en-GB" dirty="0" err="1"/>
              <a:t>Toletum</a:t>
            </a:r>
            <a:r>
              <a:rPr lang="en-GB" dirty="0"/>
              <a:t> in the 3rd century BC. It became a prosperous Roman colony, known for its trade in agricultural products and luxury goods.</a:t>
            </a:r>
          </a:p>
          <a:p>
            <a:pPr fontAlgn="base"/>
            <a:r>
              <a:rPr lang="en-GB" b="1" dirty="0" err="1"/>
              <a:t>Visigothic</a:t>
            </a:r>
            <a:r>
              <a:rPr lang="en-GB" b="1" dirty="0"/>
              <a:t> Kingdom:</a:t>
            </a:r>
            <a:r>
              <a:rPr lang="en-GB" dirty="0"/>
              <a:t> In the 5th century, the Visigoths conquered Toledo, making it the capital of their kingdom. During this period, the city became a </a:t>
            </a:r>
            <a:r>
              <a:rPr lang="en-GB" dirty="0" err="1"/>
              <a:t>center</a:t>
            </a:r>
            <a:r>
              <a:rPr lang="en-GB" dirty="0"/>
              <a:t> of Christian culture and learning.</a:t>
            </a:r>
          </a:p>
          <a:p>
            <a:pPr fontAlgn="base"/>
            <a:r>
              <a:rPr lang="en-GB" b="1" dirty="0"/>
              <a:t>Moorish Conquest:</a:t>
            </a:r>
            <a:r>
              <a:rPr lang="en-GB" dirty="0"/>
              <a:t> In the 8th century, the Moors conquered Toledo, incorporating it into the Al-Andalus Caliphate. Under Moorish rule, Toledo flourished as a cultural and intellectual centre, renowned for its architecture, poetry, and philosophy.</a:t>
            </a:r>
          </a:p>
          <a:p>
            <a:pPr fontAlgn="base"/>
            <a:r>
              <a:rPr lang="en-GB" b="1" dirty="0"/>
              <a:t>Christian Reconquest:</a:t>
            </a:r>
            <a:r>
              <a:rPr lang="en-GB" dirty="0"/>
              <a:t> In 1085, Christian forces led by King Alfonso VI of Castile recaptured Toledo from the Moors. The city became the capital of the Kingdom of Castile and León, and its cultural and economic importance continued to grow.</a:t>
            </a:r>
          </a:p>
          <a:p>
            <a:pPr fontAlgn="base"/>
            <a:r>
              <a:rPr lang="en-GB" b="1" dirty="0"/>
              <a:t>Golden Age:</a:t>
            </a:r>
            <a:r>
              <a:rPr lang="en-GB" dirty="0"/>
              <a:t> The 15th and 16th centuries marked Toledo’s Golden Age. The city’s architecture, art, and literature reached new heights, and it became a </a:t>
            </a:r>
            <a:r>
              <a:rPr lang="en-GB" dirty="0" err="1"/>
              <a:t>center</a:t>
            </a:r>
            <a:r>
              <a:rPr lang="en-GB" dirty="0"/>
              <a:t> of cultural and intellectual life in Spain.</a:t>
            </a:r>
          </a:p>
          <a:p>
            <a:pPr fontAlgn="base"/>
            <a:r>
              <a:rPr lang="en-GB" b="1" dirty="0"/>
              <a:t>Decline:</a:t>
            </a:r>
            <a:r>
              <a:rPr lang="en-GB" dirty="0"/>
              <a:t> In the 17th century, Toledo’s economic importance began to decline as trade routes shifted to other cities. However, the city retained its cultural heritage and historical significance.</a:t>
            </a:r>
          </a:p>
          <a:p>
            <a:pPr marL="0" indent="0">
              <a:buNone/>
            </a:pPr>
            <a:endParaRPr lang="en-GB" dirty="0"/>
          </a:p>
        </p:txBody>
      </p:sp>
    </p:spTree>
    <p:extLst>
      <p:ext uri="{BB962C8B-B14F-4D97-AF65-F5344CB8AC3E}">
        <p14:creationId xmlns:p14="http://schemas.microsoft.com/office/powerpoint/2010/main" val="1915902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6B4B25-423C-3C5B-8847-84242E7F9C98}"/>
              </a:ext>
            </a:extLst>
          </p:cNvPr>
          <p:cNvSpPr>
            <a:spLocks noGrp="1"/>
          </p:cNvSpPr>
          <p:nvPr>
            <p:ph idx="1"/>
          </p:nvPr>
        </p:nvSpPr>
        <p:spPr>
          <a:xfrm>
            <a:off x="398060" y="6317672"/>
            <a:ext cx="10515600" cy="480263"/>
          </a:xfrm>
        </p:spPr>
        <p:txBody>
          <a:bodyPr/>
          <a:lstStyle/>
          <a:p>
            <a:pPr marL="0" indent="0">
              <a:buNone/>
            </a:pPr>
            <a:r>
              <a:rPr lang="en-GB" dirty="0"/>
              <a:t> Can you predict what the story will be about?</a:t>
            </a:r>
          </a:p>
        </p:txBody>
      </p:sp>
      <p:pic>
        <p:nvPicPr>
          <p:cNvPr id="4" name="Picture 2" descr="See the white one in the back? She's bad to the core, goading her underlings, making them knead till their pudgy little knuckles bleed">
            <a:extLst>
              <a:ext uri="{FF2B5EF4-FFF2-40B4-BE49-F238E27FC236}">
                <a16:creationId xmlns:a16="http://schemas.microsoft.com/office/drawing/2014/main" id="{F27629EE-1790-F394-DA23-CD52529AC1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8877" y="60063"/>
            <a:ext cx="6577705" cy="6062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685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975AF-EC56-C8B3-00E2-5D7B4D554BF3}"/>
              </a:ext>
            </a:extLst>
          </p:cNvPr>
          <p:cNvSpPr>
            <a:spLocks noGrp="1"/>
          </p:cNvSpPr>
          <p:nvPr>
            <p:ph type="title"/>
          </p:nvPr>
        </p:nvSpPr>
        <p:spPr>
          <a:xfrm>
            <a:off x="214746" y="232859"/>
            <a:ext cx="10515600" cy="604693"/>
          </a:xfrm>
        </p:spPr>
        <p:txBody>
          <a:bodyPr>
            <a:normAutofit fontScale="90000"/>
          </a:bodyPr>
          <a:lstStyle/>
          <a:p>
            <a:r>
              <a:rPr lang="en-GB" dirty="0"/>
              <a:t>Word cloud</a:t>
            </a:r>
          </a:p>
        </p:txBody>
      </p:sp>
      <p:sp>
        <p:nvSpPr>
          <p:cNvPr id="3" name="Content Placeholder 2">
            <a:extLst>
              <a:ext uri="{FF2B5EF4-FFF2-40B4-BE49-F238E27FC236}">
                <a16:creationId xmlns:a16="http://schemas.microsoft.com/office/drawing/2014/main" id="{9C228779-4E06-1BD3-452F-48D114417F32}"/>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2B51EB0A-6FDA-7513-B16D-1D32EE8FDDD5}"/>
              </a:ext>
            </a:extLst>
          </p:cNvPr>
          <p:cNvPicPr>
            <a:picLocks noChangeAspect="1"/>
          </p:cNvPicPr>
          <p:nvPr/>
        </p:nvPicPr>
        <p:blipFill>
          <a:blip r:embed="rId2"/>
          <a:stretch>
            <a:fillRect/>
          </a:stretch>
        </p:blipFill>
        <p:spPr>
          <a:xfrm>
            <a:off x="473333" y="837552"/>
            <a:ext cx="9998426" cy="5655323"/>
          </a:xfrm>
          <a:prstGeom prst="rect">
            <a:avLst/>
          </a:prstGeom>
        </p:spPr>
      </p:pic>
    </p:spTree>
    <p:extLst>
      <p:ext uri="{BB962C8B-B14F-4D97-AF65-F5344CB8AC3E}">
        <p14:creationId xmlns:p14="http://schemas.microsoft.com/office/powerpoint/2010/main" val="2089063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EABD0-8D05-4D45-100D-F2DE4FA31FDF}"/>
              </a:ext>
            </a:extLst>
          </p:cNvPr>
          <p:cNvSpPr>
            <a:spLocks noGrp="1"/>
          </p:cNvSpPr>
          <p:nvPr>
            <p:ph type="title"/>
          </p:nvPr>
        </p:nvSpPr>
        <p:spPr/>
        <p:txBody>
          <a:bodyPr/>
          <a:lstStyle/>
          <a:p>
            <a:r>
              <a:rPr lang="en-GB" dirty="0"/>
              <a:t>Listen to the story</a:t>
            </a:r>
          </a:p>
        </p:txBody>
      </p:sp>
      <p:sp>
        <p:nvSpPr>
          <p:cNvPr id="3" name="Content Placeholder 2">
            <a:extLst>
              <a:ext uri="{FF2B5EF4-FFF2-40B4-BE49-F238E27FC236}">
                <a16:creationId xmlns:a16="http://schemas.microsoft.com/office/drawing/2014/main" id="{7B99D23F-BBFB-61C8-DD5D-CFE95EB4F602}"/>
              </a:ext>
            </a:extLst>
          </p:cNvPr>
          <p:cNvSpPr>
            <a:spLocks noGrp="1"/>
          </p:cNvSpPr>
          <p:nvPr>
            <p:ph idx="1"/>
          </p:nvPr>
        </p:nvSpPr>
        <p:spPr/>
        <p:txBody>
          <a:bodyPr/>
          <a:lstStyle/>
          <a:p>
            <a:r>
              <a:rPr lang="en-GB" dirty="0"/>
              <a:t>If you want to, you can read along or you can just listen with your eyes closed.</a:t>
            </a:r>
          </a:p>
        </p:txBody>
      </p:sp>
    </p:spTree>
    <p:extLst>
      <p:ext uri="{BB962C8B-B14F-4D97-AF65-F5344CB8AC3E}">
        <p14:creationId xmlns:p14="http://schemas.microsoft.com/office/powerpoint/2010/main" val="2151334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620F8-9CDD-50C0-B82E-5E2E78293280}"/>
              </a:ext>
            </a:extLst>
          </p:cNvPr>
          <p:cNvSpPr>
            <a:spLocks noGrp="1"/>
          </p:cNvSpPr>
          <p:nvPr>
            <p:ph idx="1"/>
          </p:nvPr>
        </p:nvSpPr>
        <p:spPr>
          <a:xfrm>
            <a:off x="540327" y="263236"/>
            <a:ext cx="11416146" cy="6733310"/>
          </a:xfrm>
        </p:spPr>
        <p:txBody>
          <a:bodyPr>
            <a:normAutofit fontScale="55000" lnSpcReduction="20000"/>
          </a:bodyPr>
          <a:lstStyle/>
          <a:p>
            <a:pPr marL="0" indent="0">
              <a:buNone/>
            </a:pPr>
            <a:r>
              <a:rPr lang="en-GB" b="1" dirty="0"/>
              <a:t>The Sweet Bread of Toledo</a:t>
            </a:r>
            <a:endParaRPr lang="en-GB" dirty="0"/>
          </a:p>
          <a:p>
            <a:pPr marL="0" indent="0">
              <a:buNone/>
            </a:pPr>
            <a:r>
              <a:rPr lang="en-GB" dirty="0"/>
              <a:t>A long time ago, in the old city of Toledo, there was a very difficult time. The people were hungry, and there was almost no food in the city.</a:t>
            </a:r>
          </a:p>
          <a:p>
            <a:pPr marL="0" indent="0">
              <a:buNone/>
            </a:pPr>
            <a:r>
              <a:rPr lang="en-GB" dirty="0"/>
              <a:t>This happened after the great Battle of Las Navas de Tolosa. The war had destroyed many fields, and there was no wheat to make bread. Bread was the most important food for the people, and without it, life was very hard.</a:t>
            </a:r>
          </a:p>
          <a:p>
            <a:pPr marL="0" indent="0">
              <a:buNone/>
            </a:pPr>
            <a:r>
              <a:rPr lang="en-GB" dirty="0"/>
              <a:t>Inside the city, there was a quiet place called the Convent of San Clemente. A group of nuns lived there. They prayed, worked, and helped the poor people of Toledo.</a:t>
            </a:r>
          </a:p>
          <a:p>
            <a:pPr marL="0" indent="0">
              <a:buNone/>
            </a:pPr>
            <a:r>
              <a:rPr lang="en-GB" dirty="0"/>
              <a:t>One day, the nuns saw that many people were weak and hungry. Children cried in the streets, and families had nothing to eat. The nuns wanted to help, but they also had very little food.</a:t>
            </a:r>
          </a:p>
          <a:p>
            <a:pPr marL="0" indent="0">
              <a:buNone/>
            </a:pPr>
            <a:r>
              <a:rPr lang="en-GB" dirty="0"/>
              <a:t>They looked in their kitchen and found only two things: almonds and sugar.</a:t>
            </a:r>
          </a:p>
          <a:p>
            <a:pPr marL="0" indent="0">
              <a:buNone/>
            </a:pPr>
            <a:r>
              <a:rPr lang="en-GB" dirty="0"/>
              <a:t>One of the older nuns had an idea.</a:t>
            </a:r>
            <a:br>
              <a:rPr lang="en-GB" dirty="0"/>
            </a:br>
            <a:r>
              <a:rPr lang="en-GB" dirty="0"/>
              <a:t>“Maybe we can make something with this,” she said.</a:t>
            </a:r>
          </a:p>
          <a:p>
            <a:pPr marL="0" indent="0">
              <a:buNone/>
            </a:pPr>
            <a:r>
              <a:rPr lang="en-GB" dirty="0"/>
              <a:t>The nuns took the almonds and crushed them into a fine powder. Then they mixed the almonds with sugar and a little water. Slowly, they made a soft, sweet paste.</a:t>
            </a:r>
          </a:p>
          <a:p>
            <a:pPr marL="0" indent="0">
              <a:buNone/>
            </a:pPr>
            <a:r>
              <a:rPr lang="en-GB" dirty="0"/>
              <a:t>They shaped the paste into small pieces and gave them to the hungry people.</a:t>
            </a:r>
          </a:p>
          <a:p>
            <a:pPr marL="0" indent="0">
              <a:buNone/>
            </a:pPr>
            <a:r>
              <a:rPr lang="en-GB" dirty="0"/>
              <a:t>At first, the people were surprised.</a:t>
            </a:r>
            <a:br>
              <a:rPr lang="en-GB" dirty="0"/>
            </a:br>
            <a:r>
              <a:rPr lang="en-GB" dirty="0"/>
              <a:t>“This is not bread,” they said.</a:t>
            </a:r>
          </a:p>
          <a:p>
            <a:pPr marL="0" indent="0">
              <a:buNone/>
            </a:pPr>
            <a:r>
              <a:rPr lang="en-GB" dirty="0"/>
              <a:t>But when they ate it, they felt stronger. The sweet almond food gave them energy. It was not the same as bread, but it helped them survive.</a:t>
            </a:r>
          </a:p>
          <a:p>
            <a:pPr marL="0" indent="0">
              <a:buNone/>
            </a:pPr>
            <a:r>
              <a:rPr lang="en-GB" dirty="0"/>
              <a:t>Day after day, the nuns continued to make this food. It became known as a kind of “sweet bread” for the people of Toledo.</a:t>
            </a:r>
          </a:p>
          <a:p>
            <a:pPr marL="0" indent="0">
              <a:buNone/>
            </a:pPr>
            <a:r>
              <a:rPr lang="en-GB" dirty="0"/>
              <a:t>Some people say the nuns created it because they were clever. Others say it was a gift from God, because they prayed for help.</a:t>
            </a:r>
          </a:p>
          <a:p>
            <a:pPr marL="0" indent="0">
              <a:buNone/>
            </a:pPr>
            <a:r>
              <a:rPr lang="en-GB" dirty="0"/>
              <a:t>In time, this simple mixture of almonds and sugar became famous. People gave it a name: </a:t>
            </a:r>
            <a:r>
              <a:rPr lang="en-GB" b="1" dirty="0" err="1"/>
              <a:t>mazapán</a:t>
            </a:r>
            <a:r>
              <a:rPr lang="en-GB" dirty="0"/>
              <a:t>, or marzipan.</a:t>
            </a:r>
          </a:p>
          <a:p>
            <a:pPr marL="0" indent="0">
              <a:buNone/>
            </a:pPr>
            <a:r>
              <a:rPr lang="en-GB" dirty="0"/>
              <a:t>Today, Toledo is still famous for its marzipan. Visitors from all over the world come to taste this sweet.</a:t>
            </a:r>
          </a:p>
          <a:p>
            <a:pPr marL="0" indent="0">
              <a:buNone/>
            </a:pPr>
            <a:r>
              <a:rPr lang="en-GB" dirty="0"/>
              <a:t>And when they eat it, they remember the story of the nuns who helped a hungry city with a simple and kind idea.</a:t>
            </a:r>
          </a:p>
          <a:p>
            <a:pPr marL="0" indent="0">
              <a:buNone/>
            </a:pPr>
            <a:endParaRPr lang="en-GB" dirty="0"/>
          </a:p>
        </p:txBody>
      </p:sp>
    </p:spTree>
    <p:extLst>
      <p:ext uri="{BB962C8B-B14F-4D97-AF65-F5344CB8AC3E}">
        <p14:creationId xmlns:p14="http://schemas.microsoft.com/office/powerpoint/2010/main" val="209159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087C7-BAE3-76E0-F72D-E39BEEF4AF23}"/>
              </a:ext>
            </a:extLst>
          </p:cNvPr>
          <p:cNvSpPr>
            <a:spLocks noGrp="1"/>
          </p:cNvSpPr>
          <p:nvPr>
            <p:ph type="title"/>
          </p:nvPr>
        </p:nvSpPr>
        <p:spPr/>
        <p:txBody>
          <a:bodyPr/>
          <a:lstStyle/>
          <a:p>
            <a:r>
              <a:rPr lang="en-GB" dirty="0"/>
              <a:t>Read the story again</a:t>
            </a:r>
          </a:p>
        </p:txBody>
      </p:sp>
      <p:sp>
        <p:nvSpPr>
          <p:cNvPr id="3" name="Content Placeholder 2">
            <a:extLst>
              <a:ext uri="{FF2B5EF4-FFF2-40B4-BE49-F238E27FC236}">
                <a16:creationId xmlns:a16="http://schemas.microsoft.com/office/drawing/2014/main" id="{188EB824-9CF0-03B7-DED1-85DE47EE57E7}"/>
              </a:ext>
            </a:extLst>
          </p:cNvPr>
          <p:cNvSpPr>
            <a:spLocks noGrp="1"/>
          </p:cNvSpPr>
          <p:nvPr>
            <p:ph idx="1"/>
          </p:nvPr>
        </p:nvSpPr>
        <p:spPr/>
        <p:txBody>
          <a:bodyPr/>
          <a:lstStyle/>
          <a:p>
            <a:r>
              <a:rPr lang="en-GB" dirty="0"/>
              <a:t>With your partner identify a gesture or movement for each paragraph.</a:t>
            </a:r>
          </a:p>
          <a:p>
            <a:pPr marL="0" indent="0">
              <a:buNone/>
            </a:pPr>
            <a:r>
              <a:rPr lang="en-GB" dirty="0"/>
              <a:t> </a:t>
            </a:r>
          </a:p>
        </p:txBody>
      </p:sp>
    </p:spTree>
    <p:extLst>
      <p:ext uri="{BB962C8B-B14F-4D97-AF65-F5344CB8AC3E}">
        <p14:creationId xmlns:p14="http://schemas.microsoft.com/office/powerpoint/2010/main" val="3120408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91C17-00AC-C96B-2FA9-629892EC3F7A}"/>
              </a:ext>
            </a:extLst>
          </p:cNvPr>
          <p:cNvSpPr>
            <a:spLocks noGrp="1"/>
          </p:cNvSpPr>
          <p:nvPr>
            <p:ph type="title"/>
          </p:nvPr>
        </p:nvSpPr>
        <p:spPr>
          <a:xfrm>
            <a:off x="838200" y="365125"/>
            <a:ext cx="10515600" cy="735255"/>
          </a:xfrm>
        </p:spPr>
        <p:txBody>
          <a:bodyPr/>
          <a:lstStyle/>
          <a:p>
            <a:r>
              <a:rPr lang="en-GB" dirty="0"/>
              <a:t>Tableau </a:t>
            </a:r>
          </a:p>
        </p:txBody>
      </p:sp>
      <p:sp>
        <p:nvSpPr>
          <p:cNvPr id="3" name="Content Placeholder 2">
            <a:extLst>
              <a:ext uri="{FF2B5EF4-FFF2-40B4-BE49-F238E27FC236}">
                <a16:creationId xmlns:a16="http://schemas.microsoft.com/office/drawing/2014/main" id="{DE254526-D8FF-5E3D-6732-964BAE835AF8}"/>
              </a:ext>
            </a:extLst>
          </p:cNvPr>
          <p:cNvSpPr>
            <a:spLocks noGrp="1"/>
          </p:cNvSpPr>
          <p:nvPr>
            <p:ph idx="1"/>
          </p:nvPr>
        </p:nvSpPr>
        <p:spPr>
          <a:xfrm>
            <a:off x="304828" y="1100380"/>
            <a:ext cx="6470073" cy="4859607"/>
          </a:xfrm>
        </p:spPr>
        <p:txBody>
          <a:bodyPr>
            <a:normAutofit/>
          </a:bodyPr>
          <a:lstStyle/>
          <a:p>
            <a:pPr marL="0" indent="0">
              <a:buNone/>
            </a:pPr>
            <a:r>
              <a:rPr lang="en-GB" dirty="0"/>
              <a:t>You can tell a story using words, but we also tell stories using images.</a:t>
            </a:r>
          </a:p>
        </p:txBody>
      </p:sp>
      <p:pic>
        <p:nvPicPr>
          <p:cNvPr id="1026" name="Picture 2" descr="tableaux | Theatre games, Drama ideas, Drama class">
            <a:extLst>
              <a:ext uri="{FF2B5EF4-FFF2-40B4-BE49-F238E27FC236}">
                <a16:creationId xmlns:a16="http://schemas.microsoft.com/office/drawing/2014/main" id="{A9194D1B-4C36-0B41-E680-DCCA2E4F7A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8337" y="732752"/>
            <a:ext cx="4578899" cy="32968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76C86A9-45F4-7569-1C16-7415B850DFF7}"/>
              </a:ext>
            </a:extLst>
          </p:cNvPr>
          <p:cNvSpPr txBox="1"/>
          <p:nvPr/>
        </p:nvSpPr>
        <p:spPr>
          <a:xfrm>
            <a:off x="264764" y="2213677"/>
            <a:ext cx="6096276" cy="2677656"/>
          </a:xfrm>
          <a:prstGeom prst="rect">
            <a:avLst/>
          </a:prstGeom>
          <a:noFill/>
        </p:spPr>
        <p:txBody>
          <a:bodyPr wrap="square" rtlCol="0">
            <a:spAutoFit/>
          </a:bodyPr>
          <a:lstStyle/>
          <a:p>
            <a:r>
              <a:rPr lang="en-GB" sz="2800" b="0" i="0" dirty="0">
                <a:solidFill>
                  <a:srgbClr val="202124"/>
                </a:solidFill>
                <a:effectLst/>
                <a:latin typeface="Google Sans"/>
              </a:rPr>
              <a:t>Tableau is a theatre technique of telling a story in frozen pictures. </a:t>
            </a:r>
            <a:r>
              <a:rPr lang="en-GB" sz="2800" b="0" i="0" dirty="0">
                <a:solidFill>
                  <a:srgbClr val="040C28"/>
                </a:solidFill>
                <a:effectLst/>
                <a:latin typeface="Google Sans"/>
              </a:rPr>
              <a:t>Students use their body position and facial expression to portray a specific part of a story</a:t>
            </a:r>
            <a:r>
              <a:rPr lang="en-GB" sz="2800" b="0" i="0" dirty="0">
                <a:solidFill>
                  <a:srgbClr val="202124"/>
                </a:solidFill>
                <a:effectLst/>
                <a:latin typeface="Google Sans"/>
              </a:rPr>
              <a:t>.</a:t>
            </a:r>
          </a:p>
          <a:p>
            <a:endParaRPr lang="en-GB" sz="2800" dirty="0">
              <a:solidFill>
                <a:srgbClr val="202124"/>
              </a:solidFill>
              <a:latin typeface="Google Sans"/>
            </a:endParaRPr>
          </a:p>
          <a:p>
            <a:r>
              <a:rPr lang="en-GB" sz="2800" b="0" i="0" dirty="0">
                <a:solidFill>
                  <a:srgbClr val="202124"/>
                </a:solidFill>
                <a:effectLst/>
                <a:latin typeface="Google Sans"/>
              </a:rPr>
              <a:t> </a:t>
            </a:r>
            <a:endParaRPr lang="en-GB" dirty="0"/>
          </a:p>
        </p:txBody>
      </p:sp>
    </p:spTree>
    <p:extLst>
      <p:ext uri="{BB962C8B-B14F-4D97-AF65-F5344CB8AC3E}">
        <p14:creationId xmlns:p14="http://schemas.microsoft.com/office/powerpoint/2010/main" val="2369378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CD92E-598E-13A5-DEE7-7273889B4B71}"/>
              </a:ext>
            </a:extLst>
          </p:cNvPr>
          <p:cNvSpPr>
            <a:spLocks noGrp="1"/>
          </p:cNvSpPr>
          <p:nvPr>
            <p:ph type="title"/>
          </p:nvPr>
        </p:nvSpPr>
        <p:spPr>
          <a:xfrm>
            <a:off x="838200" y="365125"/>
            <a:ext cx="10515600" cy="590839"/>
          </a:xfrm>
        </p:spPr>
        <p:txBody>
          <a:bodyPr>
            <a:normAutofit fontScale="90000"/>
          </a:bodyPr>
          <a:lstStyle/>
          <a:p>
            <a:r>
              <a:rPr lang="en-GB" dirty="0" err="1"/>
              <a:t>Marzapan</a:t>
            </a:r>
            <a:r>
              <a:rPr lang="en-GB" dirty="0"/>
              <a:t> time!</a:t>
            </a:r>
          </a:p>
        </p:txBody>
      </p:sp>
      <p:sp>
        <p:nvSpPr>
          <p:cNvPr id="3" name="Content Placeholder 2">
            <a:extLst>
              <a:ext uri="{FF2B5EF4-FFF2-40B4-BE49-F238E27FC236}">
                <a16:creationId xmlns:a16="http://schemas.microsoft.com/office/drawing/2014/main" id="{EAE541B9-CF1F-F6D5-8313-4B6AC5A39804}"/>
              </a:ext>
            </a:extLst>
          </p:cNvPr>
          <p:cNvSpPr>
            <a:spLocks noGrp="1"/>
          </p:cNvSpPr>
          <p:nvPr>
            <p:ph idx="1"/>
          </p:nvPr>
        </p:nvSpPr>
        <p:spPr>
          <a:xfrm>
            <a:off x="838200" y="1136073"/>
            <a:ext cx="10515600" cy="5356802"/>
          </a:xfrm>
        </p:spPr>
        <p:txBody>
          <a:bodyPr>
            <a:normAutofit fontScale="70000" lnSpcReduction="20000"/>
          </a:bodyPr>
          <a:lstStyle/>
          <a:p>
            <a:pPr marL="514350" indent="-514350">
              <a:buAutoNum type="arabicPeriod"/>
            </a:pPr>
            <a:r>
              <a:rPr lang="en-GB" dirty="0"/>
              <a:t>Hold the Marzipan – Take a piece of marzipan (or any food) in your hand. Feel its weight and notice how unusual it is to focus on it instead of automatically eating. </a:t>
            </a:r>
          </a:p>
          <a:p>
            <a:pPr marL="514350" indent="-514350">
              <a:buAutoNum type="arabicPeriod"/>
            </a:pPr>
            <a:r>
              <a:rPr lang="en-GB" dirty="0"/>
              <a:t>Observe the marzipan – Look closely as if seeing it for the first time. Pay attention to its crevices, wrinkles, and how light interacts with its surface. </a:t>
            </a:r>
          </a:p>
          <a:p>
            <a:pPr marL="514350" indent="-514350">
              <a:buAutoNum type="arabicPeriod"/>
            </a:pPr>
            <a:r>
              <a:rPr lang="en-GB" dirty="0"/>
              <a:t>Touch – Squeeze the marzipan between your fingers. Notice its texture and how it feels—does it have a lot of "give"? Is it dry? </a:t>
            </a:r>
          </a:p>
          <a:p>
            <a:pPr marL="514350" indent="-514350">
              <a:buAutoNum type="arabicPeriod"/>
            </a:pPr>
            <a:r>
              <a:rPr lang="en-GB" dirty="0"/>
              <a:t>Smell – Bring the marzipan to your nose and take a deep breath. Focus on its scent and allow it to occupy your full awareness.</a:t>
            </a:r>
          </a:p>
          <a:p>
            <a:pPr marL="514350" indent="-514350">
              <a:buAutoNum type="arabicPeriod"/>
            </a:pPr>
            <a:r>
              <a:rPr lang="en-GB" dirty="0"/>
              <a:t>Taste – Place the marzipan on your tongue without chewing immediately. Notice its sensation as you move it around your mouth. </a:t>
            </a:r>
          </a:p>
          <a:p>
            <a:pPr marL="514350" indent="-514350">
              <a:buAutoNum type="arabicPeriod"/>
            </a:pPr>
            <a:r>
              <a:rPr lang="en-GB" dirty="0"/>
              <a:t>Chew the marzipan – When ready, start chewing slowly. Take small bites and observe the textures and flavours that emerge as you break it apart, along with the saliva produced. </a:t>
            </a:r>
          </a:p>
          <a:p>
            <a:pPr marL="514350" indent="-514350">
              <a:buAutoNum type="arabicPeriod"/>
            </a:pPr>
            <a:r>
              <a:rPr lang="en-GB" dirty="0"/>
              <a:t>Swallow – Before swallowing, pause and notice the urge to do so. Then, swallow slowly, paying attention to the movement of the marzipan down your throat. </a:t>
            </a:r>
          </a:p>
          <a:p>
            <a:pPr marL="514350" indent="-514350">
              <a:buAutoNum type="arabicPeriod"/>
            </a:pPr>
            <a:r>
              <a:rPr lang="en-GB" dirty="0"/>
              <a:t>Reflect  – After swallowing, consider how your mouth feels. Is there an aftertaste? Do you feel inclined to eat something else now that you've finished? </a:t>
            </a:r>
          </a:p>
          <a:p>
            <a:pPr marL="0" indent="0">
              <a:buNone/>
            </a:pPr>
            <a:endParaRPr lang="en-GB" dirty="0"/>
          </a:p>
          <a:p>
            <a:pPr marL="0" indent="0">
              <a:buNone/>
            </a:pPr>
            <a:r>
              <a:rPr lang="en-GB" dirty="0"/>
              <a:t>This exercise encourages mindfulness through focused observation and sensory engagement with food.</a:t>
            </a:r>
          </a:p>
        </p:txBody>
      </p:sp>
    </p:spTree>
    <p:extLst>
      <p:ext uri="{BB962C8B-B14F-4D97-AF65-F5344CB8AC3E}">
        <p14:creationId xmlns:p14="http://schemas.microsoft.com/office/powerpoint/2010/main" val="2366681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1E315-350F-0CA1-A477-DB512D32834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2A528B6-8102-A44A-15E4-8446324F85B1}"/>
              </a:ext>
            </a:extLst>
          </p:cNvPr>
          <p:cNvSpPr>
            <a:spLocks noGrp="1"/>
          </p:cNvSpPr>
          <p:nvPr>
            <p:ph idx="1"/>
          </p:nvPr>
        </p:nvSpPr>
        <p:spPr/>
        <p:txBody>
          <a:bodyPr/>
          <a:lstStyle/>
          <a:p>
            <a:endParaRPr lang="en-GB"/>
          </a:p>
        </p:txBody>
      </p:sp>
      <p:sp>
        <p:nvSpPr>
          <p:cNvPr id="4" name="Cloud 3">
            <a:extLst>
              <a:ext uri="{FF2B5EF4-FFF2-40B4-BE49-F238E27FC236}">
                <a16:creationId xmlns:a16="http://schemas.microsoft.com/office/drawing/2014/main" id="{93F346AB-01FB-6438-1E30-110253D77637}"/>
              </a:ext>
            </a:extLst>
          </p:cNvPr>
          <p:cNvSpPr/>
          <p:nvPr/>
        </p:nvSpPr>
        <p:spPr>
          <a:xfrm>
            <a:off x="2123268" y="991892"/>
            <a:ext cx="7888637" cy="5185071"/>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Which senses have we used when learning about the legend of Toledo’s marzipan?</a:t>
            </a:r>
          </a:p>
          <a:p>
            <a:pPr algn="ctr"/>
            <a:endParaRPr lang="en-GB" sz="3200" dirty="0"/>
          </a:p>
          <a:p>
            <a:pPr algn="ctr"/>
            <a:r>
              <a:rPr lang="en-GB" sz="3200" dirty="0"/>
              <a:t>*What crossover is there with 21</a:t>
            </a:r>
            <a:r>
              <a:rPr lang="en-GB" sz="3200" baseline="30000" dirty="0"/>
              <a:t>st</a:t>
            </a:r>
            <a:r>
              <a:rPr lang="en-GB" sz="3200" dirty="0"/>
              <a:t> century learning skills, cooperative learning, UDL? </a:t>
            </a:r>
          </a:p>
        </p:txBody>
      </p:sp>
    </p:spTree>
    <p:extLst>
      <p:ext uri="{BB962C8B-B14F-4D97-AF65-F5344CB8AC3E}">
        <p14:creationId xmlns:p14="http://schemas.microsoft.com/office/powerpoint/2010/main" val="1134315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3C383-B970-9F97-29CB-852A3F03F5D3}"/>
              </a:ext>
            </a:extLst>
          </p:cNvPr>
          <p:cNvSpPr>
            <a:spLocks noGrp="1"/>
          </p:cNvSpPr>
          <p:nvPr>
            <p:ph type="title"/>
          </p:nvPr>
        </p:nvSpPr>
        <p:spPr/>
        <p:txBody>
          <a:bodyPr/>
          <a:lstStyle/>
          <a:p>
            <a:r>
              <a:rPr lang="en-GB" dirty="0"/>
              <a:t>Contexts4Content</a:t>
            </a:r>
          </a:p>
        </p:txBody>
      </p:sp>
      <p:sp>
        <p:nvSpPr>
          <p:cNvPr id="3" name="Content Placeholder 2">
            <a:extLst>
              <a:ext uri="{FF2B5EF4-FFF2-40B4-BE49-F238E27FC236}">
                <a16:creationId xmlns:a16="http://schemas.microsoft.com/office/drawing/2014/main" id="{5DDD50FC-217A-6E24-7366-E6B1FA56165F}"/>
              </a:ext>
            </a:extLst>
          </p:cNvPr>
          <p:cNvSpPr>
            <a:spLocks noGrp="1"/>
          </p:cNvSpPr>
          <p:nvPr>
            <p:ph idx="1"/>
          </p:nvPr>
        </p:nvSpPr>
        <p:spPr/>
        <p:txBody>
          <a:bodyPr/>
          <a:lstStyle/>
          <a:p>
            <a:r>
              <a:rPr lang="en-GB" dirty="0"/>
              <a:t>How have the field learning sessions contributed to your learning this week?</a:t>
            </a:r>
          </a:p>
        </p:txBody>
      </p:sp>
    </p:spTree>
    <p:extLst>
      <p:ext uri="{BB962C8B-B14F-4D97-AF65-F5344CB8AC3E}">
        <p14:creationId xmlns:p14="http://schemas.microsoft.com/office/powerpoint/2010/main" val="4149099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D8796-BFCA-E29D-708B-209E101EA5C6}"/>
              </a:ext>
            </a:extLst>
          </p:cNvPr>
          <p:cNvSpPr>
            <a:spLocks noGrp="1"/>
          </p:cNvSpPr>
          <p:nvPr>
            <p:ph type="title"/>
          </p:nvPr>
        </p:nvSpPr>
        <p:spPr/>
        <p:txBody>
          <a:bodyPr/>
          <a:lstStyle/>
          <a:p>
            <a:r>
              <a:rPr lang="en-GB" dirty="0"/>
              <a:t>Place</a:t>
            </a:r>
          </a:p>
        </p:txBody>
      </p:sp>
      <p:sp>
        <p:nvSpPr>
          <p:cNvPr id="3" name="Content Placeholder 2">
            <a:extLst>
              <a:ext uri="{FF2B5EF4-FFF2-40B4-BE49-F238E27FC236}">
                <a16:creationId xmlns:a16="http://schemas.microsoft.com/office/drawing/2014/main" id="{B4494556-EA0B-7A2F-C47D-A0238EEA9819}"/>
              </a:ext>
            </a:extLst>
          </p:cNvPr>
          <p:cNvSpPr>
            <a:spLocks noGrp="1"/>
          </p:cNvSpPr>
          <p:nvPr>
            <p:ph idx="1"/>
          </p:nvPr>
        </p:nvSpPr>
        <p:spPr/>
        <p:txBody>
          <a:bodyPr/>
          <a:lstStyle/>
          <a:p>
            <a:pPr marL="514350" indent="-514350">
              <a:buFont typeface="+mj-lt"/>
              <a:buAutoNum type="arabicPeriod"/>
            </a:pPr>
            <a:r>
              <a:rPr lang="en-GB" dirty="0"/>
              <a:t>Do you have a legend or myth from your town, city or country? Do you use this in your classes?</a:t>
            </a:r>
          </a:p>
          <a:p>
            <a:pPr marL="514350" indent="-514350">
              <a:buFont typeface="+mj-lt"/>
              <a:buAutoNum type="arabicPeriod"/>
            </a:pPr>
            <a:r>
              <a:rPr lang="en-GB" dirty="0"/>
              <a:t>How often do you take learners out of the classroom?</a:t>
            </a:r>
          </a:p>
          <a:p>
            <a:pPr marL="514350" indent="-514350">
              <a:buFont typeface="+mj-lt"/>
              <a:buAutoNum type="arabicPeriod"/>
            </a:pPr>
            <a:r>
              <a:rPr lang="en-GB" dirty="0"/>
              <a:t>What was the last excursion you were part of?</a:t>
            </a:r>
          </a:p>
          <a:p>
            <a:pPr marL="514350" indent="-514350">
              <a:buFont typeface="+mj-lt"/>
              <a:buAutoNum type="arabicPeriod"/>
            </a:pPr>
            <a:r>
              <a:rPr lang="en-GB" dirty="0"/>
              <a:t>What challenges might teachers face when trying to incorporate ‘place’ into learning?</a:t>
            </a:r>
          </a:p>
          <a:p>
            <a:pPr marL="514350" indent="-514350">
              <a:buFont typeface="+mj-lt"/>
              <a:buAutoNum type="arabicPeriod"/>
            </a:pPr>
            <a:r>
              <a:rPr lang="en-GB" dirty="0"/>
              <a:t>How could local environments be used to support your students’ learning?</a:t>
            </a:r>
          </a:p>
          <a:p>
            <a:pPr marL="514350" indent="-514350">
              <a:buFont typeface="+mj-lt"/>
              <a:buAutoNum type="arabicPeriod"/>
            </a:pPr>
            <a:r>
              <a:rPr lang="en-GB" dirty="0"/>
              <a:t>How can digital tools help when incorporating place into learning?</a:t>
            </a:r>
          </a:p>
        </p:txBody>
      </p:sp>
    </p:spTree>
    <p:extLst>
      <p:ext uri="{BB962C8B-B14F-4D97-AF65-F5344CB8AC3E}">
        <p14:creationId xmlns:p14="http://schemas.microsoft.com/office/powerpoint/2010/main" val="1419353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1FF23-5682-5B89-7502-A786720F4876}"/>
              </a:ext>
            </a:extLst>
          </p:cNvPr>
          <p:cNvSpPr>
            <a:spLocks noGrp="1"/>
          </p:cNvSpPr>
          <p:nvPr>
            <p:ph type="title"/>
          </p:nvPr>
        </p:nvSpPr>
        <p:spPr/>
        <p:txBody>
          <a:bodyPr>
            <a:normAutofit fontScale="90000"/>
          </a:bodyPr>
          <a:lstStyle/>
          <a:p>
            <a:r>
              <a:rPr lang="en-GB" dirty="0"/>
              <a:t>Think of a lesson that you give regularly. How could you incorporate sensory learning or place? </a:t>
            </a:r>
          </a:p>
        </p:txBody>
      </p:sp>
      <p:sp>
        <p:nvSpPr>
          <p:cNvPr id="3" name="Content Placeholder 2">
            <a:extLst>
              <a:ext uri="{FF2B5EF4-FFF2-40B4-BE49-F238E27FC236}">
                <a16:creationId xmlns:a16="http://schemas.microsoft.com/office/drawing/2014/main" id="{D8EDD3B7-9306-F9CC-7447-1ABB2517F5F6}"/>
              </a:ext>
            </a:extLst>
          </p:cNvPr>
          <p:cNvSpPr>
            <a:spLocks noGrp="1"/>
          </p:cNvSpPr>
          <p:nvPr>
            <p:ph idx="1"/>
          </p:nvPr>
        </p:nvSpPr>
        <p:spPr>
          <a:xfrm>
            <a:off x="838200" y="2715903"/>
            <a:ext cx="10515600" cy="3461059"/>
          </a:xfrm>
        </p:spPr>
        <p:txBody>
          <a:bodyPr/>
          <a:lstStyle/>
          <a:p>
            <a:pPr marL="0" indent="0">
              <a:buNone/>
            </a:pPr>
            <a:endParaRPr lang="en-GB" dirty="0"/>
          </a:p>
          <a:p>
            <a:pPr marL="0" indent="0">
              <a:buNone/>
            </a:pPr>
            <a:endParaRPr lang="en-GB" dirty="0"/>
          </a:p>
        </p:txBody>
      </p:sp>
    </p:spTree>
    <p:extLst>
      <p:ext uri="{BB962C8B-B14F-4D97-AF65-F5344CB8AC3E}">
        <p14:creationId xmlns:p14="http://schemas.microsoft.com/office/powerpoint/2010/main" val="1373659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8BF9C-CF26-0E37-D93F-BB2A2E519237}"/>
              </a:ext>
            </a:extLst>
          </p:cNvPr>
          <p:cNvSpPr>
            <a:spLocks noGrp="1"/>
          </p:cNvSpPr>
          <p:nvPr>
            <p:ph type="title"/>
          </p:nvPr>
        </p:nvSpPr>
        <p:spPr/>
        <p:txBody>
          <a:bodyPr/>
          <a:lstStyle/>
          <a:p>
            <a:r>
              <a:rPr lang="en-GB" dirty="0"/>
              <a:t>Sensory overload</a:t>
            </a:r>
          </a:p>
        </p:txBody>
      </p:sp>
      <p:sp>
        <p:nvSpPr>
          <p:cNvPr id="3" name="Content Placeholder 2">
            <a:extLst>
              <a:ext uri="{FF2B5EF4-FFF2-40B4-BE49-F238E27FC236}">
                <a16:creationId xmlns:a16="http://schemas.microsoft.com/office/drawing/2014/main" id="{D04B02B2-E8D6-2262-F3E7-778BCA875B25}"/>
              </a:ext>
            </a:extLst>
          </p:cNvPr>
          <p:cNvSpPr>
            <a:spLocks noGrp="1"/>
          </p:cNvSpPr>
          <p:nvPr>
            <p:ph idx="1"/>
          </p:nvPr>
        </p:nvSpPr>
        <p:spPr/>
        <p:txBody>
          <a:bodyPr/>
          <a:lstStyle/>
          <a:p>
            <a:pPr marL="0" indent="0">
              <a:buNone/>
            </a:pPr>
            <a:r>
              <a:rPr lang="en-GB" dirty="0"/>
              <a:t>We also need to be aware that some learners can suffer from sensory overload; students with special educational needs and disabilities may have greater sensitivity to sensory stimuli. What works in one classroom won’t work for another, but some points to consider:</a:t>
            </a:r>
          </a:p>
          <a:p>
            <a:r>
              <a:rPr lang="en-GB" dirty="0"/>
              <a:t>Reduce visual clutter</a:t>
            </a:r>
          </a:p>
          <a:p>
            <a:r>
              <a:rPr lang="en-GB" dirty="0"/>
              <a:t>Minimise harsh lighting</a:t>
            </a:r>
          </a:p>
          <a:p>
            <a:r>
              <a:rPr lang="en-GB" dirty="0"/>
              <a:t>Provide designated quiet zones</a:t>
            </a:r>
          </a:p>
          <a:p>
            <a:r>
              <a:rPr lang="en-GB" dirty="0"/>
              <a:t>Comfortable seating options</a:t>
            </a:r>
          </a:p>
          <a:p>
            <a:r>
              <a:rPr lang="en-GB" dirty="0"/>
              <a:t>Movement or quiet breaks</a:t>
            </a:r>
          </a:p>
          <a:p>
            <a:endParaRPr lang="en-GB" dirty="0"/>
          </a:p>
          <a:p>
            <a:endParaRPr lang="en-GB" dirty="0"/>
          </a:p>
        </p:txBody>
      </p:sp>
    </p:spTree>
    <p:extLst>
      <p:ext uri="{BB962C8B-B14F-4D97-AF65-F5344CB8AC3E}">
        <p14:creationId xmlns:p14="http://schemas.microsoft.com/office/powerpoint/2010/main" val="3958902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E3852-D03F-7DE3-8799-A8199A16B26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3E73418-6235-8E62-B8E1-29ADEE6F98F0}"/>
              </a:ext>
            </a:extLst>
          </p:cNvPr>
          <p:cNvSpPr>
            <a:spLocks noGrp="1"/>
          </p:cNvSpPr>
          <p:nvPr>
            <p:ph idx="1"/>
          </p:nvPr>
        </p:nvSpPr>
        <p:spPr/>
        <p:txBody>
          <a:bodyPr/>
          <a:lstStyle/>
          <a:p>
            <a:endParaRPr lang="en-GB"/>
          </a:p>
        </p:txBody>
      </p:sp>
      <p:pic>
        <p:nvPicPr>
          <p:cNvPr id="3074" name="Picture 2" descr="A Mindful Moment... Using our Senses to Feel Grounded">
            <a:extLst>
              <a:ext uri="{FF2B5EF4-FFF2-40B4-BE49-F238E27FC236}">
                <a16:creationId xmlns:a16="http://schemas.microsoft.com/office/drawing/2014/main" id="{9AE602A6-650D-BB09-5C74-DEC7A3CE58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261938"/>
            <a:ext cx="10515599" cy="5915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9739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FA97C-7A9B-920B-9C85-8AB6142EC4DB}"/>
              </a:ext>
            </a:extLst>
          </p:cNvPr>
          <p:cNvSpPr>
            <a:spLocks noGrp="1"/>
          </p:cNvSpPr>
          <p:nvPr>
            <p:ph type="title"/>
          </p:nvPr>
        </p:nvSpPr>
        <p:spPr/>
        <p:txBody>
          <a:bodyPr/>
          <a:lstStyle/>
          <a:p>
            <a:r>
              <a:rPr lang="en-GB" dirty="0"/>
              <a:t>5-4-3-2-1 grounding technique</a:t>
            </a:r>
          </a:p>
        </p:txBody>
      </p:sp>
      <p:sp>
        <p:nvSpPr>
          <p:cNvPr id="3" name="Content Placeholder 2">
            <a:extLst>
              <a:ext uri="{FF2B5EF4-FFF2-40B4-BE49-F238E27FC236}">
                <a16:creationId xmlns:a16="http://schemas.microsoft.com/office/drawing/2014/main" id="{76DB5812-B21B-068C-05F2-A32A73E5258F}"/>
              </a:ext>
            </a:extLst>
          </p:cNvPr>
          <p:cNvSpPr>
            <a:spLocks noGrp="1"/>
          </p:cNvSpPr>
          <p:nvPr>
            <p:ph idx="1"/>
          </p:nvPr>
        </p:nvSpPr>
        <p:spPr/>
        <p:txBody>
          <a:bodyPr/>
          <a:lstStyle/>
          <a:p>
            <a:r>
              <a:rPr lang="en-GB" dirty="0"/>
              <a:t>Pause</a:t>
            </a:r>
          </a:p>
          <a:p>
            <a:r>
              <a:rPr lang="en-GB" dirty="0"/>
              <a:t>5 things you see</a:t>
            </a:r>
          </a:p>
          <a:p>
            <a:r>
              <a:rPr lang="en-GB" dirty="0"/>
              <a:t>4 things you feel</a:t>
            </a:r>
          </a:p>
          <a:p>
            <a:r>
              <a:rPr lang="en-GB" dirty="0"/>
              <a:t>3 sounds you hear</a:t>
            </a:r>
          </a:p>
          <a:p>
            <a:r>
              <a:rPr lang="en-GB" dirty="0"/>
              <a:t>2 things you smell</a:t>
            </a:r>
          </a:p>
          <a:p>
            <a:r>
              <a:rPr lang="en-GB" dirty="0"/>
              <a:t>1 thing you taste</a:t>
            </a:r>
          </a:p>
        </p:txBody>
      </p:sp>
      <p:pic>
        <p:nvPicPr>
          <p:cNvPr id="3076" name="Picture 4" descr="Small Group Update (Mindful Island)">
            <a:extLst>
              <a:ext uri="{FF2B5EF4-FFF2-40B4-BE49-F238E27FC236}">
                <a16:creationId xmlns:a16="http://schemas.microsoft.com/office/drawing/2014/main" id="{B66AFD35-9ABC-C737-7AC1-AFDEAE2E8B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3553" y="1825625"/>
            <a:ext cx="6439766" cy="4544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4104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19D1C2-E00B-2FE3-CB62-DB005F0B2089}"/>
              </a:ext>
            </a:extLst>
          </p:cNvPr>
          <p:cNvSpPr>
            <a:spLocks noGrp="1"/>
          </p:cNvSpPr>
          <p:nvPr>
            <p:ph type="title"/>
          </p:nvPr>
        </p:nvSpPr>
        <p:spPr>
          <a:xfrm>
            <a:off x="7320466" y="609600"/>
            <a:ext cx="4140014" cy="1330839"/>
          </a:xfrm>
        </p:spPr>
        <p:txBody>
          <a:bodyPr>
            <a:normAutofit/>
          </a:bodyPr>
          <a:lstStyle/>
          <a:p>
            <a:r>
              <a:rPr lang="en-GB" dirty="0"/>
              <a:t>Beach ball breathing</a:t>
            </a:r>
          </a:p>
        </p:txBody>
      </p:sp>
      <p:pic>
        <p:nvPicPr>
          <p:cNvPr id="1026" name="Picture 2" descr="6&quot; Waterproof Beach Ball Accent">
            <a:extLst>
              <a:ext uri="{FF2B5EF4-FFF2-40B4-BE49-F238E27FC236}">
                <a16:creationId xmlns:a16="http://schemas.microsoft.com/office/drawing/2014/main" id="{49C1FB45-E50E-BC97-3C51-891AAEAEC2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33" r="-2" b="-2"/>
          <a:stretch>
            <a:fillRect/>
          </a:stretch>
        </p:blipFill>
        <p:spPr bwMode="auto">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6DD84B7-619F-CFC2-FF2F-C21791C93529}"/>
              </a:ext>
            </a:extLst>
          </p:cNvPr>
          <p:cNvSpPr>
            <a:spLocks noGrp="1"/>
          </p:cNvSpPr>
          <p:nvPr>
            <p:ph idx="1"/>
          </p:nvPr>
        </p:nvSpPr>
        <p:spPr>
          <a:xfrm>
            <a:off x="7320465" y="2194102"/>
            <a:ext cx="4140013" cy="3908586"/>
          </a:xfrm>
        </p:spPr>
        <p:txBody>
          <a:bodyPr>
            <a:normAutofit/>
          </a:bodyPr>
          <a:lstStyle/>
          <a:p>
            <a:r>
              <a:rPr lang="en-GB" sz="2000">
                <a:hlinkClick r:id="rId3"/>
              </a:rPr>
              <a:t>https://www.youtube.com/watch?v=ufL35GH74uU</a:t>
            </a:r>
            <a:endParaRPr lang="en-GB" sz="2000"/>
          </a:p>
          <a:p>
            <a:endParaRPr lang="en-GB" sz="2000"/>
          </a:p>
        </p:txBody>
      </p:sp>
    </p:spTree>
    <p:extLst>
      <p:ext uri="{BB962C8B-B14F-4D97-AF65-F5344CB8AC3E}">
        <p14:creationId xmlns:p14="http://schemas.microsoft.com/office/powerpoint/2010/main" val="1763912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183A7-5431-A7E8-5E12-2524D4F18781}"/>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B3B19AD-8FB6-65E6-BCFD-1F0A5D95C2E2}"/>
              </a:ext>
            </a:extLst>
          </p:cNvPr>
          <p:cNvSpPr>
            <a:spLocks noGrp="1"/>
          </p:cNvSpPr>
          <p:nvPr>
            <p:ph idx="1"/>
          </p:nvPr>
        </p:nvSpPr>
        <p:spPr/>
        <p:txBody>
          <a:bodyPr/>
          <a:lstStyle/>
          <a:p>
            <a:r>
              <a:rPr lang="en-GB" dirty="0"/>
              <a:t>Box breathing </a:t>
            </a:r>
          </a:p>
        </p:txBody>
      </p:sp>
    </p:spTree>
    <p:extLst>
      <p:ext uri="{BB962C8B-B14F-4D97-AF65-F5344CB8AC3E}">
        <p14:creationId xmlns:p14="http://schemas.microsoft.com/office/powerpoint/2010/main" val="945630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9775F-62E4-1017-7C08-BF938CDF3D30}"/>
              </a:ext>
            </a:extLst>
          </p:cNvPr>
          <p:cNvSpPr>
            <a:spLocks noGrp="1"/>
          </p:cNvSpPr>
          <p:nvPr>
            <p:ph type="title"/>
          </p:nvPr>
        </p:nvSpPr>
        <p:spPr/>
        <p:txBody>
          <a:bodyPr/>
          <a:lstStyle/>
          <a:p>
            <a:r>
              <a:rPr lang="en-GB" dirty="0"/>
              <a:t>A little mindfulness</a:t>
            </a:r>
          </a:p>
        </p:txBody>
      </p:sp>
      <p:sp>
        <p:nvSpPr>
          <p:cNvPr id="3" name="Content Placeholder 2">
            <a:extLst>
              <a:ext uri="{FF2B5EF4-FFF2-40B4-BE49-F238E27FC236}">
                <a16:creationId xmlns:a16="http://schemas.microsoft.com/office/drawing/2014/main" id="{1A1560D5-831A-D5D8-04A9-A788B9E741A9}"/>
              </a:ext>
            </a:extLst>
          </p:cNvPr>
          <p:cNvSpPr>
            <a:spLocks noGrp="1"/>
          </p:cNvSpPr>
          <p:nvPr>
            <p:ph idx="1"/>
          </p:nvPr>
        </p:nvSpPr>
        <p:spPr/>
        <p:txBody>
          <a:bodyPr/>
          <a:lstStyle/>
          <a:p>
            <a:pPr marL="0" indent="0">
              <a:buNone/>
            </a:pPr>
            <a:r>
              <a:rPr lang="en-GB" dirty="0"/>
              <a:t>When you’re in Toledo find a moment to practise the two techniques we have just gone done together. You might want to do this on your own or with the group. </a:t>
            </a:r>
          </a:p>
        </p:txBody>
      </p:sp>
    </p:spTree>
    <p:extLst>
      <p:ext uri="{BB962C8B-B14F-4D97-AF65-F5344CB8AC3E}">
        <p14:creationId xmlns:p14="http://schemas.microsoft.com/office/powerpoint/2010/main" val="2087891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001CE-E8E1-B633-2C9B-126BFD6A1483}"/>
              </a:ext>
            </a:extLst>
          </p:cNvPr>
          <p:cNvSpPr>
            <a:spLocks noGrp="1"/>
          </p:cNvSpPr>
          <p:nvPr>
            <p:ph type="title"/>
          </p:nvPr>
        </p:nvSpPr>
        <p:spPr/>
        <p:txBody>
          <a:bodyPr/>
          <a:lstStyle/>
          <a:p>
            <a:r>
              <a:rPr lang="en-GB" dirty="0"/>
              <a:t>Extra resources</a:t>
            </a:r>
          </a:p>
        </p:txBody>
      </p:sp>
      <p:sp>
        <p:nvSpPr>
          <p:cNvPr id="3" name="Content Placeholder 2">
            <a:extLst>
              <a:ext uri="{FF2B5EF4-FFF2-40B4-BE49-F238E27FC236}">
                <a16:creationId xmlns:a16="http://schemas.microsoft.com/office/drawing/2014/main" id="{4D4C2C49-EAD5-F163-6216-015C419D14B3}"/>
              </a:ext>
            </a:extLst>
          </p:cNvPr>
          <p:cNvSpPr>
            <a:spLocks noGrp="1"/>
          </p:cNvSpPr>
          <p:nvPr>
            <p:ph idx="1"/>
          </p:nvPr>
        </p:nvSpPr>
        <p:spPr/>
        <p:txBody>
          <a:bodyPr/>
          <a:lstStyle/>
          <a:p>
            <a:r>
              <a:rPr lang="en-GB" dirty="0">
                <a:hlinkClick r:id="rId2"/>
              </a:rPr>
              <a:t>https://www.youtube.com/watch?v=lyflpPbLIIs</a:t>
            </a:r>
            <a:r>
              <a:rPr lang="en-GB" dirty="0"/>
              <a:t> </a:t>
            </a:r>
          </a:p>
        </p:txBody>
      </p:sp>
    </p:spTree>
    <p:extLst>
      <p:ext uri="{BB962C8B-B14F-4D97-AF65-F5344CB8AC3E}">
        <p14:creationId xmlns:p14="http://schemas.microsoft.com/office/powerpoint/2010/main" val="31003913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2187135-E736-4D96-BCDF-4B75DA31F6AE}"/>
              </a:ext>
            </a:extLst>
          </p:cNvPr>
          <p:cNvSpPr txBox="1">
            <a:spLocks noChangeArrowheads="1"/>
          </p:cNvSpPr>
          <p:nvPr/>
        </p:nvSpPr>
        <p:spPr bwMode="auto">
          <a:xfrm>
            <a:off x="2135188" y="3212976"/>
            <a:ext cx="7775648" cy="316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r>
              <a:rPr lang="en-GB" altLang="es-ES" sz="3200" kern="0" dirty="0">
                <a:solidFill>
                  <a:schemeClr val="tx1"/>
                </a:solidFill>
                <a:latin typeface="Calibri" panose="020F0502020204030204" pitchFamily="34" charset="0"/>
              </a:rPr>
              <a:t>www.englishmatters.org</a:t>
            </a:r>
            <a:br>
              <a:rPr lang="en-GB" altLang="es-ES" sz="3200" kern="0" dirty="0">
                <a:solidFill>
                  <a:schemeClr val="tx1"/>
                </a:solidFill>
                <a:latin typeface="Calibri" panose="020F0502020204030204" pitchFamily="34" charset="0"/>
              </a:rPr>
            </a:br>
            <a:br>
              <a:rPr lang="en-GB" altLang="es-ES" sz="1100" kern="0" dirty="0">
                <a:solidFill>
                  <a:schemeClr val="tx1"/>
                </a:solidFill>
                <a:latin typeface="Calibri" panose="020F0502020204030204" pitchFamily="34" charset="0"/>
              </a:rPr>
            </a:br>
            <a:br>
              <a:rPr lang="en-GB" altLang="es-ES" sz="1100" kern="0" dirty="0">
                <a:solidFill>
                  <a:schemeClr val="tx1"/>
                </a:solidFill>
                <a:latin typeface="Calibri" panose="020F0502020204030204" pitchFamily="34" charset="0"/>
              </a:rPr>
            </a:br>
            <a:r>
              <a:rPr lang="en-GB" altLang="es-ES" sz="2800" kern="0" dirty="0">
                <a:solidFill>
                  <a:schemeClr val="tx1"/>
                </a:solidFill>
                <a:latin typeface="Calibri" panose="020F0502020204030204" pitchFamily="34" charset="0"/>
              </a:rPr>
              <a:t>english@englishmatters.eu</a:t>
            </a:r>
            <a:br>
              <a:rPr lang="en-GB" altLang="es-ES" sz="2800" kern="0" dirty="0">
                <a:solidFill>
                  <a:schemeClr val="tx1"/>
                </a:solidFill>
                <a:latin typeface="Calibri" panose="020F0502020204030204" pitchFamily="34" charset="0"/>
              </a:rPr>
            </a:br>
            <a:br>
              <a:rPr lang="en-GB" altLang="es-ES" sz="2800" kern="0" dirty="0">
                <a:solidFill>
                  <a:schemeClr val="tx1"/>
                </a:solidFill>
                <a:latin typeface="Calibri" panose="020F0502020204030204" pitchFamily="34" charset="0"/>
              </a:rPr>
            </a:br>
            <a:r>
              <a:rPr lang="en-GB" altLang="es-ES" sz="2800" kern="0" dirty="0">
                <a:solidFill>
                  <a:schemeClr val="tx1"/>
                </a:solidFill>
                <a:latin typeface="Calibri" panose="020F0502020204030204" pitchFamily="34" charset="0"/>
              </a:rPr>
              <a:t>@</a:t>
            </a:r>
            <a:r>
              <a:rPr lang="en-GB" altLang="es-ES" sz="2800" kern="0" dirty="0" err="1">
                <a:solidFill>
                  <a:schemeClr val="tx1"/>
                </a:solidFill>
                <a:latin typeface="Calibri" panose="020F0502020204030204" pitchFamily="34" charset="0"/>
              </a:rPr>
              <a:t>EnglishMattersE</a:t>
            </a:r>
            <a:br>
              <a:rPr lang="en-GB" altLang="es-ES" sz="2800" kern="0" dirty="0">
                <a:solidFill>
                  <a:schemeClr val="tx1"/>
                </a:solidFill>
                <a:latin typeface="Calibri" panose="020F0502020204030204" pitchFamily="34" charset="0"/>
              </a:rPr>
            </a:br>
            <a:br>
              <a:rPr lang="en-GB" altLang="es-ES" sz="2800" kern="0" dirty="0">
                <a:solidFill>
                  <a:schemeClr val="tx1"/>
                </a:solidFill>
                <a:latin typeface="Calibri" panose="020F0502020204030204" pitchFamily="34" charset="0"/>
              </a:rPr>
            </a:br>
            <a:r>
              <a:rPr lang="en-GB" altLang="es-ES" sz="2800" kern="0" dirty="0">
                <a:solidFill>
                  <a:schemeClr val="tx1"/>
                </a:solidFill>
                <a:latin typeface="Calibri" panose="020F0502020204030204" pitchFamily="34" charset="0"/>
              </a:rPr>
              <a:t>www.facebook.com/englishmatters.org</a:t>
            </a:r>
            <a:br>
              <a:rPr lang="en-GB" altLang="es-ES" sz="2800" kern="0" dirty="0">
                <a:solidFill>
                  <a:schemeClr val="tx1"/>
                </a:solidFill>
                <a:latin typeface="Calibri" panose="020F0502020204030204" pitchFamily="34" charset="0"/>
              </a:rPr>
            </a:br>
            <a:endParaRPr lang="es-ES" altLang="es-ES" sz="2800" kern="0" dirty="0">
              <a:solidFill>
                <a:schemeClr val="tx1"/>
              </a:solidFill>
              <a:latin typeface="Calibri" panose="020F0502020204030204" pitchFamily="34" charset="0"/>
            </a:endParaRPr>
          </a:p>
        </p:txBody>
      </p:sp>
      <p:pic>
        <p:nvPicPr>
          <p:cNvPr id="5" name="1 Imagen">
            <a:extLst>
              <a:ext uri="{FF2B5EF4-FFF2-40B4-BE49-F238E27FC236}">
                <a16:creationId xmlns:a16="http://schemas.microsoft.com/office/drawing/2014/main" id="{152964E1-965A-4A63-BDBF-8212BE67D19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5414" y="4652963"/>
            <a:ext cx="725487"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2 Imagen">
            <a:extLst>
              <a:ext uri="{FF2B5EF4-FFF2-40B4-BE49-F238E27FC236}">
                <a16:creationId xmlns:a16="http://schemas.microsoft.com/office/drawing/2014/main" id="{A8FB93DB-59B7-4A2D-9911-790C59383C0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7125" y="5373688"/>
            <a:ext cx="6286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07755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1657</TotalTime>
  <Words>1647</Words>
  <Application>Microsoft Office PowerPoint</Application>
  <PresentationFormat>Widescreen</PresentationFormat>
  <Paragraphs>95</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Google Sans</vt:lpstr>
      <vt:lpstr>Office Theme</vt:lpstr>
      <vt:lpstr>Place and sensory learning </vt:lpstr>
      <vt:lpstr>Source credit: https://www.learntoshine.co.uk/post/the-science-behind-multisensory-learning-why-it-works-for-kids</vt:lpstr>
      <vt:lpstr>Why use a multi-sensory approach?</vt:lpstr>
      <vt:lpstr>PowerPoint Presentation</vt:lpstr>
      <vt:lpstr>PowerPoint Presentation</vt:lpstr>
      <vt:lpstr>Toledo: City of three cultures</vt:lpstr>
      <vt:lpstr>PowerPoint Presentation</vt:lpstr>
      <vt:lpstr>PowerPoint Presentation</vt:lpstr>
      <vt:lpstr>Word cloud</vt:lpstr>
      <vt:lpstr>Listen to the story</vt:lpstr>
      <vt:lpstr>PowerPoint Presentation</vt:lpstr>
      <vt:lpstr>Read the story again</vt:lpstr>
      <vt:lpstr>Tableau </vt:lpstr>
      <vt:lpstr>Marzapan time!</vt:lpstr>
      <vt:lpstr>PowerPoint Presentation</vt:lpstr>
      <vt:lpstr>Contexts4Content</vt:lpstr>
      <vt:lpstr>Place</vt:lpstr>
      <vt:lpstr>Think of a lesson that you give regularly. How could you incorporate sensory learning or place? </vt:lpstr>
      <vt:lpstr>Sensory overload</vt:lpstr>
      <vt:lpstr>PowerPoint Presentation</vt:lpstr>
      <vt:lpstr>5-4-3-2-1 grounding technique</vt:lpstr>
      <vt:lpstr>Beach ball breathing</vt:lpstr>
      <vt:lpstr>PowerPoint Presentation</vt:lpstr>
      <vt:lpstr>A little mindfulness</vt:lpstr>
      <vt:lpstr>Extra resources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English Matters IT</dc:creator>
  <cp:lastModifiedBy>Megan Watkins</cp:lastModifiedBy>
  <cp:revision>88</cp:revision>
  <dcterms:created xsi:type="dcterms:W3CDTF">2020-02-11T12:36:33Z</dcterms:created>
  <dcterms:modified xsi:type="dcterms:W3CDTF">2026-05-08T08:59:35Z</dcterms:modified>
</cp:coreProperties>
</file>